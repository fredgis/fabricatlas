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TLA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42774"/>
          </a:solidFill>
          <a:ln w="12700">
            <a:solidFill>
              <a:srgbClr val="74277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840480" y="0"/>
            <a:ext cx="4572000" cy="73152"/>
          </a:xfrm>
          <a:prstGeom prst="rect">
            <a:avLst/>
          </a:prstGeom>
          <a:solidFill>
            <a:srgbClr val="117865"/>
          </a:solidFill>
          <a:ln w="12700">
            <a:solidFill>
              <a:srgbClr val="117865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412480" y="0"/>
            <a:ext cx="3779215" cy="73152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28232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1616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28232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1616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hyperlink" Target="https://github.com/fredgis/FabricAtlas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731520" y="-640080"/>
            <a:ext cx="2926080" cy="2926080"/>
          </a:xfrm>
          <a:prstGeom prst="ellipse">
            <a:avLst/>
          </a:prstGeom>
          <a:solidFill>
            <a:srgbClr val="117865">
              <a:alpha val="7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4754880"/>
            <a:ext cx="3200400" cy="3200400"/>
          </a:xfrm>
          <a:prstGeom prst="ellipse">
            <a:avLst/>
          </a:prstGeom>
          <a:solidFill>
            <a:srgbClr val="742774">
              <a:alpha val="6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640080"/>
            <a:ext cx="749808" cy="749808"/>
          </a:xfrm>
          <a:prstGeom prst="roundRect">
            <a:avLst>
              <a:gd name="adj" fmla="val 14634"/>
            </a:avLst>
          </a:prstGeom>
          <a:solidFill>
            <a:srgbClr val="117865"/>
          </a:solidFill>
          <a:ln w="12700">
            <a:solidFill>
              <a:srgbClr val="0C695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478" y="805038"/>
            <a:ext cx="419892" cy="419892"/>
          </a:xfrm>
          <a:prstGeom prst="ellipse">
            <a:avLst/>
          </a:prstGeom>
          <a:solidFill>
            <a:srgbClr val="117865">
              <a:alpha val="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86455" y="1014984"/>
            <a:ext cx="239939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6424" y="895015"/>
            <a:ext cx="0" cy="239939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64208" y="78638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7865"/>
                </a:solidFill>
              </a:rPr>
              <a:t>FABRIC ATLAS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1627632"/>
            <a:ext cx="9875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2424"/>
                </a:solidFill>
              </a:rPr>
              <a:t>Fabric Atlas turns Fabric metadata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242424"/>
                </a:solidFill>
              </a:rPr>
              <a:t>into a shared working catalog.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31520" y="3310128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C695A"/>
                </a:solidFill>
              </a:rPr>
              <a:t>Development, architecture and implementation choices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731520" y="409651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16161"/>
                </a:solidFill>
              </a:rPr>
              <a:t>React + Rayfin Functions + Fabric SQL + minimal Python compatibility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31520" y="513892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2424"/>
                </a:solidFill>
              </a:rPr>
              <a:t>Discover  →  Collect  →  Validate  →  Publish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" y="608076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14 slides  |  October 2026  |  Fabric Atlas 2.0.0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28232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1616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56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validated snapshot powers every workspace view.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6473952"/>
            <a:ext cx="9875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16161"/>
                </a:solidFill>
              </a:rPr>
              <a:t>Source: docs/screenshots + docs/fabric-atlas-whitepaper</a:t>
            </a:r>
            <a:endParaRPr lang="en-US" sz="850" dirty="0"/>
          </a:p>
        </p:txBody>
      </p:sp>
      <p:pic>
        <p:nvPicPr>
          <p:cNvPr id="5" name="Image 0" descr="C:\Users\frgisber\repo-fabricatlas\docs\fabric-atlas-whitepaper\assets\01-overview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81328"/>
            <a:ext cx="6629400" cy="318211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479792" y="1481328"/>
            <a:ext cx="4069080" cy="1234440"/>
          </a:xfrm>
          <a:prstGeom prst="roundRect">
            <a:avLst>
              <a:gd name="adj" fmla="val 5926"/>
            </a:avLst>
          </a:prstGeom>
          <a:solidFill>
            <a:srgbClr val="F7EFF8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479792" y="1481328"/>
            <a:ext cx="73152" cy="1234440"/>
          </a:xfrm>
          <a:prstGeom prst="rect">
            <a:avLst/>
          </a:prstGeom>
          <a:solidFill>
            <a:srgbClr val="742774"/>
          </a:solidFill>
          <a:ln w="12700">
            <a:solidFill>
              <a:srgbClr val="742774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80960" y="1645920"/>
            <a:ext cx="3721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742774"/>
                </a:solidFill>
              </a:rPr>
              <a:t>Multi-workspace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680960" y="2048256"/>
            <a:ext cx="37216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Selected workspaces keep independent manifests and one active catalog.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79792" y="2907792"/>
            <a:ext cx="4069080" cy="1234440"/>
          </a:xfrm>
          <a:prstGeom prst="roundRect">
            <a:avLst>
              <a:gd name="adj" fmla="val 5926"/>
            </a:avLst>
          </a:prstGeom>
          <a:solidFill>
            <a:srgbClr val="E3F7EF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479792" y="2907792"/>
            <a:ext cx="73152" cy="1234440"/>
          </a:xfrm>
          <a:prstGeom prst="rect">
            <a:avLst/>
          </a:prstGeom>
          <a:solidFill>
            <a:srgbClr val="117865"/>
          </a:solidFill>
          <a:ln w="12700">
            <a:solidFill>
              <a:srgbClr val="117865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80960" y="3072384"/>
            <a:ext cx="3721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7865"/>
                </a:solidFill>
              </a:rPr>
              <a:t>One evidence model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7680960" y="3474720"/>
            <a:ext cx="37216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Catalog, lineage, access, governance and jobs read the same validated snapshot.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479792" y="4334256"/>
            <a:ext cx="4069080" cy="1234440"/>
          </a:xfrm>
          <a:prstGeom prst="roundRect">
            <a:avLst>
              <a:gd name="adj" fmla="val 5926"/>
            </a:avLst>
          </a:prstGeom>
          <a:solidFill>
            <a:srgbClr val="EEF6FC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7479792" y="4334256"/>
            <a:ext cx="73152" cy="12344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680960" y="4498848"/>
            <a:ext cx="3721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078D4"/>
                </a:solidFill>
              </a:rPr>
              <a:t>Metadata only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7680960" y="4901184"/>
            <a:ext cx="37216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No business rows, notebook source, prompts, credentials or query text.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28232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1616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56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C4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Functions collect. The browser validates and publishes.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6473952"/>
            <a:ext cx="9875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16161"/>
                </a:solidFill>
              </a:rPr>
              <a:t>Source: docs/architecture.md</a:t>
            </a:r>
            <a:endParaRPr lang="en-US" sz="850" dirty="0"/>
          </a:p>
        </p:txBody>
      </p:sp>
      <p:pic>
        <p:nvPicPr>
          <p:cNvPr id="5" name="Image 0" descr="C:\Users\frgisber\repo-fabricatlas\docs\fabric-atlas-whitepaper\assets\diagram-architectu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417320"/>
            <a:ext cx="10972800" cy="291693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4773168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7865"/>
                </a:solidFill>
              </a:rPr>
              <a:t>Trusted path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874520" y="4736592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Rayfin Functions → validated envelopes → Rayfin Data API → Fabric SQL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31520" y="5358384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42774"/>
                </a:solidFill>
              </a:rPr>
              <a:t>Compatibility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874520" y="532180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42424"/>
                </a:solidFill>
              </a:rPr>
              <a:t>Python runs only the exact Power BI, PBIR-Legacy and Kusto gaps.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28232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1616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56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SYNCHRONIZATION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browser run, four stages, manifest last.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6473952"/>
            <a:ext cx="9875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16161"/>
                </a:solidFill>
              </a:rPr>
              <a:t>Source: src/atlas/browser-collector-sync.ts + src/atlas/backend.ts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68680" y="2523744"/>
            <a:ext cx="5029200" cy="0"/>
          </a:xfrm>
          <a:prstGeom prst="line">
            <a:avLst/>
          </a:prstGeom>
          <a:noFill/>
          <a:ln w="25400">
            <a:solidFill>
              <a:srgbClr val="D0D0D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267712"/>
            <a:ext cx="512064" cy="512064"/>
          </a:xfrm>
          <a:prstGeom prst="ellipse">
            <a:avLst/>
          </a:prstGeom>
          <a:solidFill>
            <a:srgbClr val="117865"/>
          </a:solidFill>
          <a:ln w="12700">
            <a:solidFill>
              <a:srgbClr val="11786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359152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21792" y="29077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7865"/>
                </a:solidFill>
              </a:rPr>
              <a:t>Discover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11480" y="324612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Resolve scope and item plan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514600" y="2267712"/>
            <a:ext cx="512064" cy="512064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14600" y="2359152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221992" y="29077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78D4"/>
                </a:solidFill>
              </a:rPr>
              <a:t>Collect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011680" y="324612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Rayfin Functions plus exact compatibility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114800" y="2267712"/>
            <a:ext cx="512064" cy="512064"/>
          </a:xfrm>
          <a:prstGeom prst="ellipse">
            <a:avLst/>
          </a:prstGeom>
          <a:solidFill>
            <a:srgbClr val="742774"/>
          </a:solidFill>
          <a:ln w="12700">
            <a:solidFill>
              <a:srgbClr val="74277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114800" y="2359152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822192" y="29077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42774"/>
                </a:solidFill>
              </a:rPr>
              <a:t>Validate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611880" y="324612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Check identities, bounds and required evidence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715000" y="2267712"/>
            <a:ext cx="512064" cy="512064"/>
          </a:xfrm>
          <a:prstGeom prst="ellipse">
            <a:avLst/>
          </a:prstGeom>
          <a:solidFill>
            <a:srgbClr val="0E700E"/>
          </a:solidFill>
          <a:ln w="12700">
            <a:solidFill>
              <a:srgbClr val="0E700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15000" y="2359152"/>
            <a:ext cx="5120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22392" y="29077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00E"/>
                </a:solidFill>
              </a:rPr>
              <a:t>Publish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212080" y="324612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dirty="0">
                <a:solidFill>
                  <a:srgbClr val="616161"/>
                </a:solidFill>
              </a:rPr>
              <a:t>Write rows, read back, create manifest</a:t>
            </a:r>
            <a:endParaRPr lang="en-US" sz="1050" dirty="0"/>
          </a:p>
        </p:txBody>
      </p:sp>
      <p:pic>
        <p:nvPicPr>
          <p:cNvPr id="22" name="Image 0" descr="C:\Users\frgisber\repo-fabricatlas\docs\fabric-atlas-whitepaper\assets\25-workspace-sync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417320"/>
            <a:ext cx="4983480" cy="2395728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6675120" y="4096512"/>
            <a:ext cx="4983480" cy="1298448"/>
          </a:xfrm>
          <a:prstGeom prst="roundRect">
            <a:avLst>
              <a:gd name="adj" fmla="val 5634"/>
            </a:avLst>
          </a:prstGeom>
          <a:solidFill>
            <a:srgbClr val="E3F7EF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6675120" y="4096512"/>
            <a:ext cx="73152" cy="1298448"/>
          </a:xfrm>
          <a:prstGeom prst="rect">
            <a:avLst/>
          </a:prstGeom>
          <a:solidFill>
            <a:srgbClr val="117865"/>
          </a:solidFill>
          <a:ln w="12700">
            <a:solidFill>
              <a:srgbClr val="117865">
                <a:alpha val="0"/>
              </a:srgbClr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876288" y="4261104"/>
            <a:ext cx="4636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7865"/>
                </a:solidFill>
              </a:rPr>
              <a:t>Last-known-good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876288" y="4663440"/>
            <a:ext cx="463600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Closing the tab stops future work. The previous validated snapshot remains visible.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28232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1616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56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COLLECTOR OWNERSHIP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owns the normal path. Python is a bounded exception.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6473952"/>
            <a:ext cx="9875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16161"/>
                </a:solidFill>
              </a:rPr>
              <a:t>Source: docs/rayfin-platform-gaps.md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7040880" cy="4434840"/>
          </a:xfrm>
          <a:prstGeom prst="roundRect">
            <a:avLst>
              <a:gd name="adj" fmla="val 1649"/>
            </a:avLst>
          </a:prstGeom>
          <a:solidFill>
            <a:srgbClr val="E3F7EF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17320"/>
            <a:ext cx="73152" cy="4434840"/>
          </a:xfrm>
          <a:prstGeom prst="rect">
            <a:avLst/>
          </a:prstGeom>
          <a:solidFill>
            <a:srgbClr val="117865"/>
          </a:solidFill>
          <a:ln w="12700">
            <a:solidFill>
              <a:srgbClr val="117865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581912"/>
            <a:ext cx="6693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7865"/>
                </a:solidFill>
              </a:rPr>
              <a:t>Rayfin Functions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1984248"/>
            <a:ext cx="6693408" cy="3721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Core inventory, roles and jobs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Definitions: Ontology, Graph Model, Data Agent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Power BI model and PBIR structure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Item Relations Preview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KQL structural metadata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SQL Database, Warehouse, Lakehouse and Mirrored Database catalogs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Shortcut, mirroring, MLV and policy evidence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955280" y="1417320"/>
            <a:ext cx="3611880" cy="4434840"/>
          </a:xfrm>
          <a:prstGeom prst="roundRect">
            <a:avLst>
              <a:gd name="adj" fmla="val 2025"/>
            </a:avLst>
          </a:prstGeom>
          <a:solidFill>
            <a:srgbClr val="F7EFF8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955280" y="1417320"/>
            <a:ext cx="73152" cy="4434840"/>
          </a:xfrm>
          <a:prstGeom prst="rect">
            <a:avLst/>
          </a:prstGeom>
          <a:solidFill>
            <a:srgbClr val="742774"/>
          </a:solidFill>
          <a:ln w="12700">
            <a:solidFill>
              <a:srgbClr val="742774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56448" y="1581912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742774"/>
                </a:solidFill>
              </a:rPr>
              <a:t>Python compatibility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156448" y="1984248"/>
            <a:ext cx="3264408" cy="3721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Power BI admin scanner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PBIR-Legacy pages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Kusto live schema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Explicit rollback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No workspace rediscovery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No unrequested collector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28232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1616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56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SNAPSHOTS AND PUBLICATION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manifest is the visibility switch.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6473952"/>
            <a:ext cx="9875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16161"/>
                </a:solidFill>
              </a:rPr>
              <a:t>Source: docs/data-model.md</a:t>
            </a:r>
            <a:endParaRPr lang="en-US" sz="850" dirty="0"/>
          </a:p>
        </p:txBody>
      </p:sp>
      <p:pic>
        <p:nvPicPr>
          <p:cNvPr id="5" name="Image 0" descr="C:\Users\frgisber\repo-fabricatlas\docs\fabric-atlas-whitepaper\assets\diagram-snapshot-lifecycl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444752"/>
            <a:ext cx="10881360" cy="134416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77240" y="3310128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EEF6FC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3310128"/>
            <a:ext cx="73152" cy="1417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78408" y="3474720"/>
            <a:ext cx="3081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078D4"/>
                </a:solidFill>
              </a:rPr>
              <a:t>1. Write candidate rows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978408" y="3877056"/>
            <a:ext cx="308152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All snapshot entities share the new workspace and snapshot identity.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89120" y="3310128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7EFF8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89120" y="3310128"/>
            <a:ext cx="73152" cy="1417320"/>
          </a:xfrm>
          <a:prstGeom prst="rect">
            <a:avLst/>
          </a:prstGeom>
          <a:solidFill>
            <a:srgbClr val="742774"/>
          </a:solidFill>
          <a:ln w="12700">
            <a:solidFill>
              <a:srgbClr val="742774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90288" y="3474720"/>
            <a:ext cx="3081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742774"/>
                </a:solidFill>
              </a:rPr>
              <a:t>2. Read back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590288" y="3877056"/>
            <a:ext cx="308152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Use the same paginated path as application startup and verify counts.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01000" y="3310128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E3F7EF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001000" y="3310128"/>
            <a:ext cx="73152" cy="1417320"/>
          </a:xfrm>
          <a:prstGeom prst="rect">
            <a:avLst/>
          </a:prstGeom>
          <a:solidFill>
            <a:srgbClr val="117865"/>
          </a:solidFill>
          <a:ln w="12700">
            <a:solidFill>
              <a:srgbClr val="117865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02168" y="3474720"/>
            <a:ext cx="3081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7865"/>
                </a:solidFill>
              </a:rPr>
              <a:t>3. Publish manifest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202168" y="3877056"/>
            <a:ext cx="3081528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Only the Workspace manifest makes the candidate visible.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2011680" y="523036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695A"/>
                </a:solidFill>
              </a:rPr>
              <a:t>Failure before the manifest keeps the previous snapshot active.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28232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1616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56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ENTITY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Twenty-six entity classes, five lifetimes.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6473952"/>
            <a:ext cx="9875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16161"/>
                </a:solidFill>
              </a:rPr>
              <a:t>Source: rayfin/data/schema.ts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94360" y="1417320"/>
            <a:ext cx="3611880" cy="1572768"/>
          </a:xfrm>
          <a:prstGeom prst="roundRect">
            <a:avLst>
              <a:gd name="adj" fmla="val 4651"/>
            </a:avLst>
          </a:prstGeom>
          <a:solidFill>
            <a:srgbClr val="E3F7EF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1417320"/>
            <a:ext cx="73152" cy="1572768"/>
          </a:xfrm>
          <a:prstGeom prst="rect">
            <a:avLst/>
          </a:prstGeom>
          <a:solidFill>
            <a:srgbClr val="117865"/>
          </a:solidFill>
          <a:ln w="12700">
            <a:solidFill>
              <a:srgbClr val="117865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581912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7865"/>
                </a:solidFill>
              </a:rPr>
              <a:t>Snapshot catalog  |  7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95528" y="1984248"/>
            <a:ext cx="326440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Workspace, FabricItem, LineageEdge, Principal, AccessGrant, JobRun, ConfigEntry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370832" y="1417320"/>
            <a:ext cx="3611880" cy="1572768"/>
          </a:xfrm>
          <a:prstGeom prst="roundRect">
            <a:avLst>
              <a:gd name="adj" fmla="val 4651"/>
            </a:avLst>
          </a:prstGeom>
          <a:solidFill>
            <a:srgbClr val="EEF6FC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70832" y="1417320"/>
            <a:ext cx="73152" cy="157276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581912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078D4"/>
                </a:solidFill>
              </a:rPr>
              <a:t>Sync control  |  7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0" y="1984248"/>
            <a:ext cx="326440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SyncRun, SyncJob, SyncTask, SyncCommand, SyncRootRun, SyncPayloadManifest, SyncPayloadChunk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156448" y="1417320"/>
            <a:ext cx="3429000" cy="1572768"/>
          </a:xfrm>
          <a:prstGeom prst="roundRect">
            <a:avLst>
              <a:gd name="adj" fmla="val 4651"/>
            </a:avLst>
          </a:prstGeom>
          <a:solidFill>
            <a:srgbClr val="F7EFF8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56448" y="1417320"/>
            <a:ext cx="73152" cy="1572768"/>
          </a:xfrm>
          <a:prstGeom prst="rect">
            <a:avLst/>
          </a:prstGeom>
          <a:solidFill>
            <a:srgbClr val="742774"/>
          </a:solidFill>
          <a:ln w="12700">
            <a:solidFill>
              <a:srgbClr val="742774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57616" y="1581912"/>
            <a:ext cx="3081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742774"/>
                </a:solidFill>
              </a:rPr>
              <a:t>Shared control  |  5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357616" y="1984248"/>
            <a:ext cx="30815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Comment, GovernancePolicy, GovernanceException, WorkspaceScope, SynchronizerAuthority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920240" y="3337560"/>
            <a:ext cx="4023360" cy="1572768"/>
          </a:xfrm>
          <a:prstGeom prst="roundRect">
            <a:avLst>
              <a:gd name="adj" fmla="val 4651"/>
            </a:avLst>
          </a:prstGeom>
          <a:solidFill>
            <a:srgbClr val="FFF9D9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1920240" y="3337560"/>
            <a:ext cx="73152" cy="1572768"/>
          </a:xfrm>
          <a:prstGeom prst="rect">
            <a:avLst/>
          </a:prstGeom>
          <a:solidFill>
            <a:srgbClr val="817400"/>
          </a:solidFill>
          <a:ln w="12700">
            <a:solidFill>
              <a:srgbClr val="817400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21408" y="3502152"/>
            <a:ext cx="3675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817400"/>
                </a:solidFill>
              </a:rPr>
              <a:t>Personal state  |  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121408" y="3904488"/>
            <a:ext cx="367588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SavedView, AccessReview, AccessReviewEvent, FindingAck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36208" y="3337560"/>
            <a:ext cx="4023360" cy="1572768"/>
          </a:xfrm>
          <a:prstGeom prst="roundRect">
            <a:avLst>
              <a:gd name="adj" fmla="val 4651"/>
            </a:avLst>
          </a:prstGeom>
          <a:solidFill>
            <a:srgbClr val="ECF6EC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236208" y="3337560"/>
            <a:ext cx="73152" cy="1572768"/>
          </a:xfrm>
          <a:prstGeom prst="rect">
            <a:avLst/>
          </a:prstGeom>
          <a:solidFill>
            <a:srgbClr val="0E700E"/>
          </a:solidFill>
          <a:ln w="12700">
            <a:solidFill>
              <a:srgbClr val="0E700E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37376" y="3502152"/>
            <a:ext cx="3675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E700E"/>
                </a:solidFill>
              </a:rPr>
              <a:t>Evidence stores  |  3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37376" y="3904488"/>
            <a:ext cx="367588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ItemRelationsEvidenceSnapshot, AccessPolicyEvidence, OperationalIncident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1280160" y="5468112"/>
            <a:ext cx="9601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C695A"/>
                </a:solidFill>
              </a:rPr>
              <a:t>Entity decorators define both the Fabric SQL schema and the authorization boundary.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28232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1616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56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 LOGICAL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Workspace and Fabric IDs connect snapshot evidence.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6473952"/>
            <a:ext cx="9875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16161"/>
                </a:solidFill>
              </a:rPr>
              <a:t>Source: rayfin/data/*.ts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709160" y="1417320"/>
            <a:ext cx="2743200" cy="1005840"/>
          </a:xfrm>
          <a:prstGeom prst="roundRect">
            <a:avLst>
              <a:gd name="adj" fmla="val 7273"/>
            </a:avLst>
          </a:prstGeom>
          <a:solidFill>
            <a:srgbClr val="E3F7EF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709160" y="1417320"/>
            <a:ext cx="73152" cy="1005840"/>
          </a:xfrm>
          <a:prstGeom prst="rect">
            <a:avLst/>
          </a:prstGeom>
          <a:solidFill>
            <a:srgbClr val="117865"/>
          </a:solidFill>
          <a:ln w="12700">
            <a:solidFill>
              <a:srgbClr val="117865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10328" y="1581912"/>
            <a:ext cx="239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7865"/>
                </a:solidFill>
              </a:rPr>
              <a:t>Workspace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910328" y="1984248"/>
            <a:ext cx="239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Manifest, snapshot, writer and counts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85800" y="274320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EEF6FC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85800" y="2743200"/>
            <a:ext cx="73152" cy="9144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6968" y="2907792"/>
            <a:ext cx="189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078D4"/>
                </a:solidFill>
              </a:rPr>
              <a:t>FabricItem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86968" y="3310128"/>
            <a:ext cx="1892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Item identity and type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154680" y="274320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F7EFF8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154680" y="2743200"/>
            <a:ext cx="73152" cy="914400"/>
          </a:xfrm>
          <a:prstGeom prst="rect">
            <a:avLst/>
          </a:prstGeom>
          <a:solidFill>
            <a:srgbClr val="742774"/>
          </a:solidFill>
          <a:ln w="12700">
            <a:solidFill>
              <a:srgbClr val="742774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55848" y="2907792"/>
            <a:ext cx="189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742774"/>
                </a:solidFill>
              </a:rPr>
              <a:t>LineageEdge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355848" y="3310128"/>
            <a:ext cx="1892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Source → consumer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23560" y="274320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FFF9D9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623560" y="2743200"/>
            <a:ext cx="73152" cy="914400"/>
          </a:xfrm>
          <a:prstGeom prst="rect">
            <a:avLst/>
          </a:prstGeom>
          <a:solidFill>
            <a:srgbClr val="817400"/>
          </a:solidFill>
          <a:ln w="12700">
            <a:solidFill>
              <a:srgbClr val="817400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24728" y="2907792"/>
            <a:ext cx="189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817400"/>
                </a:solidFill>
              </a:rPr>
              <a:t>Principal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824728" y="3310128"/>
            <a:ext cx="1892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User, group or app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092440" y="274320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FDE7E9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092440" y="2743200"/>
            <a:ext cx="73152" cy="914400"/>
          </a:xfrm>
          <a:prstGeom prst="rect">
            <a:avLst/>
          </a:prstGeom>
          <a:solidFill>
            <a:srgbClr val="BC2F32"/>
          </a:solidFill>
          <a:ln w="12700">
            <a:solidFill>
              <a:srgbClr val="BC2F32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93608" y="2907792"/>
            <a:ext cx="189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BC2F32"/>
                </a:solidFill>
              </a:rPr>
              <a:t>AccessGrant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293608" y="3310128"/>
            <a:ext cx="1892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Workspace or item path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920240" y="425196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ECF6EC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920240" y="4251960"/>
            <a:ext cx="73152" cy="914400"/>
          </a:xfrm>
          <a:prstGeom prst="rect">
            <a:avLst/>
          </a:prstGeom>
          <a:solidFill>
            <a:srgbClr val="0E700E"/>
          </a:solidFill>
          <a:ln w="12700">
            <a:solidFill>
              <a:srgbClr val="0E700E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121408" y="4416552"/>
            <a:ext cx="189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E700E"/>
                </a:solidFill>
              </a:rPr>
              <a:t>JobRun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2121408" y="4818888"/>
            <a:ext cx="1892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Observed execution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983480" y="425196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E3F7EF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983480" y="4251960"/>
            <a:ext cx="73152" cy="914400"/>
          </a:xfrm>
          <a:prstGeom prst="rect">
            <a:avLst/>
          </a:prstGeom>
          <a:solidFill>
            <a:srgbClr val="117865"/>
          </a:solidFill>
          <a:ln w="12700">
            <a:solidFill>
              <a:srgbClr val="117865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184648" y="4416552"/>
            <a:ext cx="189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7865"/>
                </a:solidFill>
              </a:rPr>
              <a:t>ConfigEntry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5184648" y="4818888"/>
            <a:ext cx="1892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Schema and provenance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046720" y="4251960"/>
            <a:ext cx="2240280" cy="914400"/>
          </a:xfrm>
          <a:prstGeom prst="roundRect">
            <a:avLst>
              <a:gd name="adj" fmla="val 8000"/>
            </a:avLst>
          </a:prstGeom>
          <a:solidFill>
            <a:srgbClr val="EEF6FC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046720" y="4251960"/>
            <a:ext cx="73152" cy="9144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47888" y="4416552"/>
            <a:ext cx="189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078D4"/>
                </a:solidFill>
              </a:rPr>
              <a:t>Comment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8247888" y="4818888"/>
            <a:ext cx="1892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Shared team context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080760" y="2423160"/>
            <a:ext cx="-4206240" cy="320040"/>
          </a:xfrm>
          <a:prstGeom prst="line">
            <a:avLst/>
          </a:prstGeom>
          <a:noFill/>
          <a:ln w="12700">
            <a:solidFill>
              <a:srgbClr val="B5B5B5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6080760" y="2423160"/>
            <a:ext cx="-1737360" cy="320040"/>
          </a:xfrm>
          <a:prstGeom prst="line">
            <a:avLst/>
          </a:prstGeom>
          <a:noFill/>
          <a:ln w="12700">
            <a:solidFill>
              <a:srgbClr val="B5B5B5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6080760" y="2423160"/>
            <a:ext cx="640080" cy="320040"/>
          </a:xfrm>
          <a:prstGeom prst="line">
            <a:avLst/>
          </a:prstGeom>
          <a:noFill/>
          <a:ln w="12700">
            <a:solidFill>
              <a:srgbClr val="B5B5B5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6080760" y="2423160"/>
            <a:ext cx="3017520" cy="320040"/>
          </a:xfrm>
          <a:prstGeom prst="line">
            <a:avLst/>
          </a:prstGeom>
          <a:noFill/>
          <a:ln w="12700">
            <a:solidFill>
              <a:srgbClr val="B5B5B5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6080760" y="2423160"/>
            <a:ext cx="-2971800" cy="1828800"/>
          </a:xfrm>
          <a:prstGeom prst="line">
            <a:avLst/>
          </a:prstGeom>
          <a:noFill/>
          <a:ln w="12700">
            <a:solidFill>
              <a:srgbClr val="B5B5B5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6080760" y="2423160"/>
            <a:ext cx="0" cy="1828800"/>
          </a:xfrm>
          <a:prstGeom prst="line">
            <a:avLst/>
          </a:prstGeom>
          <a:noFill/>
          <a:ln w="12700">
            <a:solidFill>
              <a:srgbClr val="B5B5B5"/>
            </a:solidFill>
            <a:prstDash val="solid"/>
            <a:tailEnd type="triangle"/>
          </a:ln>
        </p:spPr>
      </p:sp>
      <p:sp>
        <p:nvSpPr>
          <p:cNvPr id="43" name="Shape 41"/>
          <p:cNvSpPr/>
          <p:nvPr/>
        </p:nvSpPr>
        <p:spPr>
          <a:xfrm>
            <a:off x="6080760" y="2423160"/>
            <a:ext cx="2971800" cy="1828800"/>
          </a:xfrm>
          <a:prstGeom prst="line">
            <a:avLst/>
          </a:prstGeom>
          <a:noFill/>
          <a:ln w="12700">
            <a:solidFill>
              <a:srgbClr val="B5B5B5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28232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1616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56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PHYSICAL DATA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Twenty-six MSSQL tables grouped by lifetime.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6473952"/>
            <a:ext cx="9875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16161"/>
                </a:solidFill>
              </a:rPr>
              <a:t>Source: rayfin/data/schema.ts + Fabric SQL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2240280" cy="4480560"/>
          </a:xfrm>
          <a:prstGeom prst="roundRect">
            <a:avLst>
              <a:gd name="adj" fmla="val 3265"/>
            </a:avLst>
          </a:prstGeom>
          <a:solidFill>
            <a:srgbClr val="E3F7EF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1325880"/>
            <a:ext cx="73152" cy="4480560"/>
          </a:xfrm>
          <a:prstGeom prst="rect">
            <a:avLst/>
          </a:prstGeom>
          <a:solidFill>
            <a:srgbClr val="117865"/>
          </a:solidFill>
          <a:ln w="12700">
            <a:solidFill>
              <a:srgbClr val="117865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088" y="1490472"/>
            <a:ext cx="189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7865"/>
                </a:solidFill>
              </a:rPr>
              <a:t>Snapshot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04088" y="1892808"/>
            <a:ext cx="1892808" cy="3767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Workspaces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FabricItems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LineageEdges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Principals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AccessGrants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JobRuns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ConfigEntries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852928" y="1325880"/>
            <a:ext cx="2240280" cy="4480560"/>
          </a:xfrm>
          <a:prstGeom prst="roundRect">
            <a:avLst>
              <a:gd name="adj" fmla="val 3265"/>
            </a:avLst>
          </a:prstGeom>
          <a:solidFill>
            <a:srgbClr val="EEF6FC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852928" y="1325880"/>
            <a:ext cx="73152" cy="44805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54096" y="1490472"/>
            <a:ext cx="189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078D4"/>
                </a:solidFill>
              </a:rPr>
              <a:t>Sync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054096" y="1892808"/>
            <a:ext cx="1892808" cy="3767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SyncRuns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SyncJobs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SyncTasks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SyncCommands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SyncRootRuns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SyncPayloadManifests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SyncPayloadChunks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202936" y="1325880"/>
            <a:ext cx="2240280" cy="4480560"/>
          </a:xfrm>
          <a:prstGeom prst="roundRect">
            <a:avLst>
              <a:gd name="adj" fmla="val 3265"/>
            </a:avLst>
          </a:prstGeom>
          <a:solidFill>
            <a:srgbClr val="F7EFF8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202936" y="1325880"/>
            <a:ext cx="73152" cy="4480560"/>
          </a:xfrm>
          <a:prstGeom prst="rect">
            <a:avLst/>
          </a:prstGeom>
          <a:solidFill>
            <a:srgbClr val="742774"/>
          </a:solidFill>
          <a:ln w="12700">
            <a:solidFill>
              <a:srgbClr val="742774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04104" y="1490472"/>
            <a:ext cx="189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742774"/>
                </a:solidFill>
              </a:rPr>
              <a:t>Shared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04104" y="1892808"/>
            <a:ext cx="1892808" cy="3767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Comments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GovernancePolicies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GovernanceExceptions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WorkspaceScopes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SynchronizerAuthorities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552944" y="1325880"/>
            <a:ext cx="1828800" cy="4480560"/>
          </a:xfrm>
          <a:prstGeom prst="roundRect">
            <a:avLst>
              <a:gd name="adj" fmla="val 4000"/>
            </a:avLst>
          </a:prstGeom>
          <a:solidFill>
            <a:srgbClr val="FFF9D9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552944" y="1325880"/>
            <a:ext cx="73152" cy="4480560"/>
          </a:xfrm>
          <a:prstGeom prst="rect">
            <a:avLst/>
          </a:prstGeom>
          <a:solidFill>
            <a:srgbClr val="817400"/>
          </a:solidFill>
          <a:ln w="12700">
            <a:solidFill>
              <a:srgbClr val="817400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54112" y="1490472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817400"/>
                </a:solidFill>
              </a:rPr>
              <a:t>Personal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754112" y="1892808"/>
            <a:ext cx="1481328" cy="3767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SavedViews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AccessReviews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AccessReviewEvents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FindingAcks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491472" y="1325880"/>
            <a:ext cx="2194560" cy="4480560"/>
          </a:xfrm>
          <a:prstGeom prst="roundRect">
            <a:avLst>
              <a:gd name="adj" fmla="val 3333"/>
            </a:avLst>
          </a:prstGeom>
          <a:solidFill>
            <a:srgbClr val="ECF6EC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491472" y="1325880"/>
            <a:ext cx="73152" cy="4480560"/>
          </a:xfrm>
          <a:prstGeom prst="rect">
            <a:avLst/>
          </a:prstGeom>
          <a:solidFill>
            <a:srgbClr val="0E700E"/>
          </a:solidFill>
          <a:ln w="12700">
            <a:solidFill>
              <a:srgbClr val="0E700E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92640" y="1490472"/>
            <a:ext cx="1847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E700E"/>
                </a:solidFill>
              </a:rPr>
              <a:t>Evidence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692640" y="1892808"/>
            <a:ext cx="1847088" cy="3767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ItemRelationsEvidence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Snapshots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AccessPolicyEvidences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OperationalIncidents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22960" y="59893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16161"/>
                </a:solidFill>
              </a:rPr>
              <a:t>Logical links use stable workspace, snapshot, Fabric item and principal identities. Rayfin policies enforce the read and write boundary.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28232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1616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56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RAYFIN SCHEMA GENERATION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Decorated TypeScript becomes the Fabric data application.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6473952"/>
            <a:ext cx="9875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16161"/>
                </a:solidFill>
              </a:rPr>
              <a:t>Source: rayfin/data/schema.ts + rayfin/rayfin.yml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658368" y="2176272"/>
            <a:ext cx="1508760" cy="1645920"/>
          </a:xfrm>
          <a:prstGeom prst="roundRect">
            <a:avLst>
              <a:gd name="adj" fmla="val 4848"/>
            </a:avLst>
          </a:prstGeom>
          <a:solidFill>
            <a:srgbClr val="E3F7EF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2176272"/>
            <a:ext cx="73152" cy="1645920"/>
          </a:xfrm>
          <a:prstGeom prst="rect">
            <a:avLst/>
          </a:prstGeom>
          <a:solidFill>
            <a:srgbClr val="117865"/>
          </a:solidFill>
          <a:ln w="12700">
            <a:solidFill>
              <a:srgbClr val="117865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2340864"/>
            <a:ext cx="1161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7865"/>
                </a:solidFill>
              </a:rPr>
              <a:t>TypeScript entities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59536" y="2743200"/>
            <a:ext cx="116128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@entity + fields + policies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063240" y="2176272"/>
            <a:ext cx="1508760" cy="1645920"/>
          </a:xfrm>
          <a:prstGeom prst="roundRect">
            <a:avLst>
              <a:gd name="adj" fmla="val 4848"/>
            </a:avLst>
          </a:prstGeom>
          <a:solidFill>
            <a:srgbClr val="F7EFF8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063240" y="2176272"/>
            <a:ext cx="73152" cy="1645920"/>
          </a:xfrm>
          <a:prstGeom prst="rect">
            <a:avLst/>
          </a:prstGeom>
          <a:solidFill>
            <a:srgbClr val="742774"/>
          </a:solidFill>
          <a:ln w="12700">
            <a:solidFill>
              <a:srgbClr val="742774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2340864"/>
            <a:ext cx="1161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742774"/>
                </a:solidFill>
              </a:rPr>
              <a:t>schema.ts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264408" y="2743200"/>
            <a:ext cx="116128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Registers all 26 entities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68112" y="2176272"/>
            <a:ext cx="1508760" cy="1645920"/>
          </a:xfrm>
          <a:prstGeom prst="roundRect">
            <a:avLst>
              <a:gd name="adj" fmla="val 4848"/>
            </a:avLst>
          </a:prstGeom>
          <a:solidFill>
            <a:srgbClr val="EEF6FC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68112" y="2176272"/>
            <a:ext cx="73152" cy="16459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0" y="2340864"/>
            <a:ext cx="1161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078D4"/>
                </a:solidFill>
              </a:rPr>
              <a:t>rayfin up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669280" y="2743200"/>
            <a:ext cx="116128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Build + schema + Functions + static app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882128" y="2176272"/>
            <a:ext cx="1508760" cy="1645920"/>
          </a:xfrm>
          <a:prstGeom prst="roundRect">
            <a:avLst>
              <a:gd name="adj" fmla="val 4848"/>
            </a:avLst>
          </a:prstGeom>
          <a:solidFill>
            <a:srgbClr val="FFF9D9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882128" y="2176272"/>
            <a:ext cx="73152" cy="1645920"/>
          </a:xfrm>
          <a:prstGeom prst="rect">
            <a:avLst/>
          </a:prstGeom>
          <a:solidFill>
            <a:srgbClr val="817400"/>
          </a:solidFill>
          <a:ln w="12700">
            <a:solidFill>
              <a:srgbClr val="817400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83296" y="2340864"/>
            <a:ext cx="1161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817400"/>
                </a:solidFill>
              </a:rPr>
              <a:t>Fabric SQL + Data API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083296" y="2743200"/>
            <a:ext cx="116128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MSSQL tables and policy-enforced GraphQL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10287000" y="2176272"/>
            <a:ext cx="1508760" cy="1645920"/>
          </a:xfrm>
          <a:prstGeom prst="roundRect">
            <a:avLst>
              <a:gd name="adj" fmla="val 4848"/>
            </a:avLst>
          </a:prstGeom>
          <a:solidFill>
            <a:srgbClr val="ECF6EC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10287000" y="2176272"/>
            <a:ext cx="73152" cy="1645920"/>
          </a:xfrm>
          <a:prstGeom prst="rect">
            <a:avLst/>
          </a:prstGeom>
          <a:solidFill>
            <a:srgbClr val="0E700E"/>
          </a:solidFill>
          <a:ln w="12700">
            <a:solidFill>
              <a:srgbClr val="0E700E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488168" y="2340864"/>
            <a:ext cx="11612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E700E"/>
                </a:solidFill>
              </a:rPr>
              <a:t>RayfinClient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488168" y="2743200"/>
            <a:ext cx="1161288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Typed application reads and writes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2231136" y="2999232"/>
            <a:ext cx="713232" cy="0"/>
          </a:xfrm>
          <a:prstGeom prst="line">
            <a:avLst/>
          </a:prstGeom>
          <a:noFill/>
          <a:ln w="19050">
            <a:solidFill>
              <a:srgbClr val="616161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4636008" y="2999232"/>
            <a:ext cx="713232" cy="0"/>
          </a:xfrm>
          <a:prstGeom prst="line">
            <a:avLst/>
          </a:prstGeom>
          <a:noFill/>
          <a:ln w="19050">
            <a:solidFill>
              <a:srgbClr val="616161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7040880" y="2999232"/>
            <a:ext cx="713232" cy="0"/>
          </a:xfrm>
          <a:prstGeom prst="line">
            <a:avLst/>
          </a:prstGeom>
          <a:noFill/>
          <a:ln w="19050">
            <a:solidFill>
              <a:srgbClr val="616161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454896" y="2999232"/>
            <a:ext cx="713232" cy="0"/>
          </a:xfrm>
          <a:prstGeom prst="line">
            <a:avLst/>
          </a:prstGeom>
          <a:noFill/>
          <a:ln w="19050">
            <a:solidFill>
              <a:srgbClr val="616161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2834640" y="4590288"/>
            <a:ext cx="649224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2834640" y="4590288"/>
            <a:ext cx="73152" cy="960120"/>
          </a:xfrm>
          <a:prstGeom prst="rect">
            <a:avLst/>
          </a:prstGeom>
          <a:solidFill>
            <a:srgbClr val="117865"/>
          </a:solidFill>
          <a:ln w="12700">
            <a:solidFill>
              <a:srgbClr val="117865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035808" y="4754880"/>
            <a:ext cx="6144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7865"/>
                </a:solidFill>
              </a:rPr>
              <a:t>Deployment invariant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3035808" y="5157216"/>
            <a:ext cx="61447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Use the pinned Rayfin package family. Generated Function types and runtime metadata are never edited by hand.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28232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1616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56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READ-ONLY ATLAS MCP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agent reads the same validated snapshots as the UI.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6473952"/>
            <a:ext cx="9875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16161"/>
                </a:solidFill>
              </a:rPr>
              <a:t>Source: docs/atlas-mcp.md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731520" y="1554480"/>
            <a:ext cx="2743200" cy="2057400"/>
          </a:xfrm>
          <a:prstGeom prst="roundRect">
            <a:avLst>
              <a:gd name="adj" fmla="val 3556"/>
            </a:avLst>
          </a:prstGeom>
          <a:solidFill>
            <a:srgbClr val="F7EFF8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554480"/>
            <a:ext cx="73152" cy="2057400"/>
          </a:xfrm>
          <a:prstGeom prst="rect">
            <a:avLst/>
          </a:prstGeom>
          <a:solidFill>
            <a:srgbClr val="742774"/>
          </a:solidFill>
          <a:ln w="12700">
            <a:solidFill>
              <a:srgbClr val="742774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1719072"/>
            <a:ext cx="239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742774"/>
                </a:solidFill>
              </a:rPr>
              <a:t>MCP client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32688" y="2121408"/>
            <a:ext cx="239572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VS Code, Copilot CLI or another local MCP host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Device-code sign-in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No Fabric writes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611880" y="2578608"/>
            <a:ext cx="822960" cy="0"/>
          </a:xfrm>
          <a:prstGeom prst="line">
            <a:avLst/>
          </a:prstGeom>
          <a:noFill/>
          <a:ln w="19050">
            <a:solidFill>
              <a:srgbClr val="616161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526280" y="1554480"/>
            <a:ext cx="3108960" cy="2057400"/>
          </a:xfrm>
          <a:prstGeom prst="roundRect">
            <a:avLst>
              <a:gd name="adj" fmla="val 3556"/>
            </a:avLst>
          </a:prstGeom>
          <a:solidFill>
            <a:srgbClr val="E3F7EF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1554480"/>
            <a:ext cx="73152" cy="2057400"/>
          </a:xfrm>
          <a:prstGeom prst="rect">
            <a:avLst/>
          </a:prstGeom>
          <a:solidFill>
            <a:srgbClr val="117865"/>
          </a:solidFill>
          <a:ln w="12700">
            <a:solidFill>
              <a:srgbClr val="117865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27448" y="1719072"/>
            <a:ext cx="2761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7865"/>
                </a:solidFill>
              </a:rPr>
              <a:t>Local stdio server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727448" y="2121408"/>
            <a:ext cx="276148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Catalog lookup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Impact and lineage evidence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Access evidence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Incidents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Snapshot changes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772400" y="2578608"/>
            <a:ext cx="822960" cy="0"/>
          </a:xfrm>
          <a:prstGeom prst="line">
            <a:avLst/>
          </a:prstGeom>
          <a:noFill/>
          <a:ln w="19050">
            <a:solidFill>
              <a:srgbClr val="616161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686800" y="1554480"/>
            <a:ext cx="2743200" cy="2057400"/>
          </a:xfrm>
          <a:prstGeom prst="roundRect">
            <a:avLst>
              <a:gd name="adj" fmla="val 3556"/>
            </a:avLst>
          </a:prstGeom>
          <a:solidFill>
            <a:srgbClr val="EEF6FC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686800" y="1554480"/>
            <a:ext cx="73152" cy="20574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87968" y="1719072"/>
            <a:ext cx="2395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078D4"/>
                </a:solidFill>
              </a:rPr>
              <a:t>Rayfin Data API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887968" y="2121408"/>
            <a:ext cx="239572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Selected workspace scope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Validated manifests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No personal review state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2011680" y="4343400"/>
            <a:ext cx="8138160" cy="1097280"/>
          </a:xfrm>
          <a:prstGeom prst="roundRect">
            <a:avLst>
              <a:gd name="adj" fmla="val 6667"/>
            </a:avLst>
          </a:prstGeom>
          <a:solidFill>
            <a:srgbClr val="FFF9D9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2011680" y="4343400"/>
            <a:ext cx="73152" cy="1097280"/>
          </a:xfrm>
          <a:prstGeom prst="rect">
            <a:avLst/>
          </a:prstGeom>
          <a:solidFill>
            <a:srgbClr val="817400"/>
          </a:solidFill>
          <a:ln w="12700">
            <a:solidFill>
              <a:srgbClr val="817400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12848" y="4507992"/>
            <a:ext cx="77906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817400"/>
                </a:solidFill>
              </a:rPr>
              <a:t>Activation gate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2212848" y="4910328"/>
            <a:ext cx="7790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Dedicated public client + Item.Execute.All + reviewed external Entra exchange + live Conditional Access validation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28232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1616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56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RAYFIN STILL NEEDS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gates remain: remove Python, then remove the browser.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6473952"/>
            <a:ext cx="9875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16161"/>
                </a:solidFill>
              </a:rPr>
              <a:t>Source: docs/rayfin-platform-gaps.md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658368" y="1417320"/>
            <a:ext cx="5440680" cy="4389120"/>
          </a:xfrm>
          <a:prstGeom prst="roundRect">
            <a:avLst>
              <a:gd name="adj" fmla="val 1667"/>
            </a:avLst>
          </a:prstGeom>
          <a:solidFill>
            <a:srgbClr val="F7EFF8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1417320"/>
            <a:ext cx="73152" cy="4389120"/>
          </a:xfrm>
          <a:prstGeom prst="rect">
            <a:avLst/>
          </a:prstGeom>
          <a:solidFill>
            <a:srgbClr val="742774"/>
          </a:solidFill>
          <a:ln w="12700">
            <a:solidFill>
              <a:srgbClr val="742774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581912"/>
            <a:ext cx="50932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742774"/>
                </a:solidFill>
              </a:rPr>
              <a:t>Remove Python compatibility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59536" y="1984248"/>
            <a:ext cx="509320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1. Power BI application audience or first-party scanner connector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2. PBIR-Legacy report-page coverage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3. Kusto application audience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Result: delete sync_compatibility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27648" y="1417320"/>
            <a:ext cx="5212080" cy="4389120"/>
          </a:xfrm>
          <a:prstGeom prst="roundRect">
            <a:avLst>
              <a:gd name="adj" fmla="val 1667"/>
            </a:avLst>
          </a:prstGeom>
          <a:solidFill>
            <a:srgbClr val="E3F7EF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27648" y="1417320"/>
            <a:ext cx="73152" cy="4389120"/>
          </a:xfrm>
          <a:prstGeom prst="rect">
            <a:avLst/>
          </a:prstGeom>
          <a:solidFill>
            <a:srgbClr val="117865"/>
          </a:solidFill>
          <a:ln w="12700">
            <a:solidFill>
              <a:srgbClr val="117865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8816" y="1581912"/>
            <a:ext cx="4864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7865"/>
                </a:solidFill>
              </a:rPr>
              <a:t>Run unattended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28816" y="1984248"/>
            <a:ext cx="4864608" cy="3675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1. Timer or unattended trigger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2. Distributed claim or lease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3. Transactional publication fencing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4. Durable continuation after browser or worker interruption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Result: enable scheduled refresh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429000" y="59893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C2F32"/>
                </a:solidFill>
              </a:rPr>
              <a:t>No browser tokens are stored or replayed.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28232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1616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256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11786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IMPLEMENTATION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24242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design keeps evidence useful without publishing partial state.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30352" y="6473952"/>
            <a:ext cx="9875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16161"/>
                </a:solidFill>
              </a:rPr>
              <a:t>Source: README.md + docs/architecture.md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749808" y="1417320"/>
            <a:ext cx="475488" cy="475488"/>
          </a:xfrm>
          <a:prstGeom prst="ellipse">
            <a:avLst/>
          </a:prstGeom>
          <a:solidFill>
            <a:srgbClr val="11786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517904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44752" y="139903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2424"/>
                </a:solidFill>
              </a:rPr>
              <a:t>Generic scope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703320" y="1399032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6161"/>
                </a:solidFill>
              </a:rPr>
              <a:t>No tenant, workspace, item or endpoint hardcoding.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49808" y="2404872"/>
            <a:ext cx="475488" cy="47548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2505456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444752" y="2386584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2424"/>
                </a:solidFill>
              </a:rPr>
              <a:t>Bounded collection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703320" y="2386584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6161"/>
                </a:solidFill>
              </a:rPr>
              <a:t>Every collector has limits, evidence and failure isolation.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49808" y="3392424"/>
            <a:ext cx="475488" cy="475488"/>
          </a:xfrm>
          <a:prstGeom prst="ellipse">
            <a:avLst/>
          </a:prstGeom>
          <a:solidFill>
            <a:srgbClr val="117865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493008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444752" y="337413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2424"/>
                </a:solidFill>
              </a:rPr>
              <a:t>Explicit confidence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703320" y="3374136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6161"/>
                </a:solidFill>
              </a:rPr>
              <a:t>Verified, inferred, Beta and unavailable evidence remain distinct.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49808" y="4379976"/>
            <a:ext cx="475488" cy="475488"/>
          </a:xfrm>
          <a:prstGeom prst="ellipse">
            <a:avLst/>
          </a:prstGeom>
          <a:solidFill>
            <a:srgbClr val="0078D4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" y="448056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44752" y="4361688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2424"/>
                </a:solidFill>
              </a:rPr>
              <a:t>Manifest last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3703320" y="436168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16161"/>
                </a:solidFill>
              </a:rPr>
              <a:t>A snapshot is visible only after write, read-back and validation.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49808" y="5486400"/>
            <a:ext cx="10698480" cy="658368"/>
          </a:xfrm>
          <a:prstGeom prst="roundRect">
            <a:avLst>
              <a:gd name="adj" fmla="val 11111"/>
            </a:avLst>
          </a:prstGeom>
          <a:solidFill>
            <a:srgbClr val="E3F7EF"/>
          </a:solidFill>
          <a:ln w="12700">
            <a:solidFill>
              <a:srgbClr val="D7D7D7"/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9808" y="5486400"/>
            <a:ext cx="73152" cy="658368"/>
          </a:xfrm>
          <a:prstGeom prst="rect">
            <a:avLst/>
          </a:prstGeom>
          <a:solidFill>
            <a:srgbClr val="117865"/>
          </a:solidFill>
          <a:ln w="12700">
            <a:solidFill>
              <a:srgbClr val="117865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0976" y="5650992"/>
            <a:ext cx="10351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17865"/>
                </a:solidFill>
              </a:rPr>
              <a:t>Deploy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50976" y="6053328"/>
            <a:ext cx="10351008" cy="-54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</a:rPr>
              <a:t>npx rayfin up --tenant &lt;tenant-id&gt; --workspace-id &lt;workspace-id&gt; --item-name fabric-atlas --yes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28232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1616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" y="713232"/>
            <a:ext cx="749808" cy="749808"/>
          </a:xfrm>
          <a:prstGeom prst="roundRect">
            <a:avLst>
              <a:gd name="adj" fmla="val 14634"/>
            </a:avLst>
          </a:prstGeom>
          <a:solidFill>
            <a:srgbClr val="117865"/>
          </a:solidFill>
          <a:ln w="12700">
            <a:solidFill>
              <a:srgbClr val="0C69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766" y="878190"/>
            <a:ext cx="419892" cy="419892"/>
          </a:xfrm>
          <a:prstGeom prst="ellipse">
            <a:avLst/>
          </a:prstGeom>
          <a:solidFill>
            <a:srgbClr val="117865">
              <a:alpha val="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4743" y="1088136"/>
            <a:ext cx="239939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24712" y="968167"/>
            <a:ext cx="0" cy="239939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91640" y="877824"/>
            <a:ext cx="2011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7865"/>
                </a:solidFill>
              </a:rPr>
              <a:t>FABRIC ATLAS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49808" y="1874520"/>
            <a:ext cx="98755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242424"/>
                </a:solidFill>
              </a:rPr>
              <a:t>A trusted catalog stays available</a:t>
            </a:r>
            <a:endParaRPr lang="en-US" sz="3100" dirty="0"/>
          </a:p>
          <a:p>
            <a:pPr indent="0" marL="0">
              <a:buNone/>
            </a:pPr>
            <a:r>
              <a:rPr lang="en-US" sz="3100" b="1" dirty="0">
                <a:solidFill>
                  <a:srgbClr val="242424"/>
                </a:solidFill>
              </a:rPr>
              <a:t>while the next snapshot is built.</a:t>
            </a:r>
            <a:endParaRPr lang="en-US" sz="3100" dirty="0"/>
          </a:p>
        </p:txBody>
      </p:sp>
      <p:sp>
        <p:nvSpPr>
          <p:cNvPr id="8" name="Text 6"/>
          <p:cNvSpPr/>
          <p:nvPr/>
        </p:nvSpPr>
        <p:spPr>
          <a:xfrm>
            <a:off x="749808" y="3703320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C695A"/>
                </a:solidFill>
              </a:rPr>
              <a:t>Collect through bounded contracts. Model once. Publish after read-back.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49808" y="491947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</a:rPr>
              <a:t>Questions and feedback</a:t>
            </a:r>
            <a:endParaRPr lang="en-US" sz="1600" dirty="0"/>
          </a:p>
        </p:txBody>
      </p:sp>
      <p:sp>
        <p:nvSpPr>
          <p:cNvPr id="10" name="Text 8">
            <a:hlinkClick r:id="rId1" tooltip=""/>
          </p:cNvPr>
          <p:cNvSpPr/>
          <p:nvPr/>
        </p:nvSpPr>
        <p:spPr>
          <a:xfrm>
            <a:off x="749808" y="532180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0078D4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github.com/fredgis/FabricAtlas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49808" y="5989320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16161"/>
                </a:solidFill>
              </a:rPr>
              <a:t>Rayfin Functions  |  Fabric SQL  |  Multi-workspace  |  Metadata only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428232"/>
            <a:ext cx="45720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1616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Fabric Atlas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Fabric Atlas development and architecture</dc:title>
  <dc:subject>Fabric Atlas 2.0 development and architecture</dc:subject>
  <dc:creator>Fabric Atlas project</dc:creator>
  <cp:lastModifiedBy>Fabric Atlas project</cp:lastModifiedBy>
  <cp:revision>1</cp:revision>
  <dcterms:created xsi:type="dcterms:W3CDTF">2026-10-03T13:05:00Z</dcterms:created>
  <dcterms:modified xsi:type="dcterms:W3CDTF">2026-10-03T13:05:00Z</dcterms:modified>
</cp:coreProperties>
</file>