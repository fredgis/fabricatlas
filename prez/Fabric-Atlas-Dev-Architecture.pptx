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70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6" y="9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47088"/>
            <a:ext cx="10469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turns Fabric metadata</a:t>
            </a:r>
            <a:endParaRPr lang="en-GB" sz="3600" dirty="0"/>
          </a:p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into a shared working catalog.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Development, architecture and implementation choices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251960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6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Rayfin Functions · Fabric SQL · minimal Python compatibility</a:t>
            </a:r>
            <a:endParaRPr lang="en-GB" sz="1600" dirty="0"/>
          </a:p>
        </p:txBody>
      </p:sp>
      <p:sp>
        <p:nvSpPr>
          <p:cNvPr id="8" name="Text 4"/>
          <p:cNvSpPr/>
          <p:nvPr/>
        </p:nvSpPr>
        <p:spPr>
          <a:xfrm>
            <a:off x="722376" y="520293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→ Discover → Collect → Validate → Publish</a:t>
            </a:r>
            <a:endParaRPr lang="en-GB" sz="2100" dirty="0"/>
          </a:p>
        </p:txBody>
      </p:sp>
      <p:sp>
        <p:nvSpPr>
          <p:cNvPr id="9" name="Text 5"/>
          <p:cNvSpPr/>
          <p:nvPr/>
        </p:nvSpPr>
        <p:spPr>
          <a:xfrm>
            <a:off x="722376" y="58155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0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slides · October 2026 · Fabric Atlas 2.6.4</a:t>
            </a:r>
            <a:endParaRPr lang="en-GB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FabricAtlasCover">
            <a:hlinkClick r:id="" action="ppaction://media"/>
            <a:extLst>
              <a:ext uri="{FF2B5EF4-FFF2-40B4-BE49-F238E27FC236}">
                <a16:creationId xmlns:a16="http://schemas.microsoft.com/office/drawing/2014/main" id="{795B62FB-E2C7-9348-DA2D-BA5E3D68E1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33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5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validated snapshot powers every selected workspace view.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30352" y="1508760"/>
            <a:ext cx="7178040" cy="4142232"/>
          </a:xfrm>
          <a:prstGeom prst="roundRect">
            <a:avLst>
              <a:gd name="adj" fmla="val 132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0" name="Image 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462"/>
            <a:ext cx="7050024" cy="35928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3568" y="1627632"/>
            <a:ext cx="3584448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Multi-workspace catalog, persistent sync status and switching.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Catalog, object lineage, governance and recent jobs.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X-Ray, Item Relations Preview and evidence-based Departure Packs.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read the validated snapshot; they do not rescan Fabric.</a:t>
            </a:r>
            <a:endParaRPr lang="en-GB" sz="1720" dirty="0"/>
          </a:p>
        </p:txBody>
      </p:sp>
      <p:sp>
        <p:nvSpPr>
          <p:cNvPr id="7" name="Text 4"/>
          <p:cNvSpPr/>
          <p:nvPr/>
        </p:nvSpPr>
        <p:spPr>
          <a:xfrm>
            <a:off x="585216" y="5806440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2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2.6.4 Overview; workspace figures are live evidence, not defaults.</a:t>
            </a:r>
            <a:endParaRPr lang="en-GB" sz="1120" dirty="0"/>
          </a:p>
        </p:txBody>
      </p:sp>
      <p:sp>
        <p:nvSpPr>
          <p:cNvPr id="8" name="Text 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docs/screenshots/workspace-overview-v2.png</a:t>
            </a:r>
            <a:endParaRPr lang="en-GB" sz="1050" dirty="0"/>
          </a:p>
        </p:txBody>
      </p:sp>
      <p:sp>
        <p:nvSpPr>
          <p:cNvPr id="9" name="Text 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ARCHITECTURE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collect. The browser validates and publishes.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438912" y="1389888"/>
            <a:ext cx="11320272" cy="4526280"/>
          </a:xfrm>
          <a:prstGeom prst="roundRect">
            <a:avLst>
              <a:gd name="adj" fmla="val 80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Fabric Atlas C4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4" y="1453896"/>
            <a:ext cx="11135708" cy="43982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71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remains only for the Power BI scanner, PBIR-Legacy and Kusto gaps.</a:t>
            </a:r>
            <a:endParaRPr lang="en-GB" sz="1600" dirty="0"/>
          </a:p>
        </p:txBody>
      </p:sp>
      <p:sp>
        <p:nvSpPr>
          <p:cNvPr id="7" name="Text 4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docs/architecture.md</a:t>
            </a:r>
            <a:endParaRPr lang="en-GB" sz="1050" dirty="0"/>
          </a:p>
        </p:txBody>
      </p:sp>
      <p:sp>
        <p:nvSpPr>
          <p:cNvPr id="8" name="Text 5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PROCESS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follows five stages and publishes the manifest last.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7607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625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Connect</a:t>
            </a:r>
            <a:endParaRPr lang="en-GB" sz="1808" dirty="0"/>
          </a:p>
        </p:txBody>
      </p:sp>
      <p:sp>
        <p:nvSpPr>
          <p:cNvPr id="6" name="Text 4"/>
          <p:cNvSpPr/>
          <p:nvPr/>
        </p:nvSpPr>
        <p:spPr>
          <a:xfrm>
            <a:off x="68625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endParaRPr lang="en-GB" sz="1456" dirty="0"/>
          </a:p>
        </p:txBody>
      </p:sp>
      <p:sp>
        <p:nvSpPr>
          <p:cNvPr id="7" name="Shape 5"/>
          <p:cNvSpPr/>
          <p:nvPr/>
        </p:nvSpPr>
        <p:spPr>
          <a:xfrm>
            <a:off x="2504313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816504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926690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Discover</a:t>
            </a:r>
            <a:endParaRPr lang="en-GB" sz="1808" dirty="0"/>
          </a:p>
        </p:txBody>
      </p:sp>
      <p:sp>
        <p:nvSpPr>
          <p:cNvPr id="10" name="Text 8"/>
          <p:cNvSpPr/>
          <p:nvPr/>
        </p:nvSpPr>
        <p:spPr>
          <a:xfrm>
            <a:off x="2926690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GB" sz="1456" dirty="0"/>
          </a:p>
        </p:txBody>
      </p:sp>
      <p:sp>
        <p:nvSpPr>
          <p:cNvPr id="11" name="Shape 9"/>
          <p:cNvSpPr/>
          <p:nvPr/>
        </p:nvSpPr>
        <p:spPr>
          <a:xfrm>
            <a:off x="4744745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056937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167122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Collect</a:t>
            </a:r>
            <a:endParaRPr lang="en-GB" sz="1808" dirty="0"/>
          </a:p>
        </p:txBody>
      </p:sp>
      <p:sp>
        <p:nvSpPr>
          <p:cNvPr id="14" name="Text 12"/>
          <p:cNvSpPr/>
          <p:nvPr/>
        </p:nvSpPr>
        <p:spPr>
          <a:xfrm>
            <a:off x="5167122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bounded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</a:t>
            </a:r>
            <a:endParaRPr lang="en-GB" sz="1456" dirty="0"/>
          </a:p>
        </p:txBody>
      </p:sp>
      <p:sp>
        <p:nvSpPr>
          <p:cNvPr id="15" name="Shape 13"/>
          <p:cNvSpPr/>
          <p:nvPr/>
        </p:nvSpPr>
        <p:spPr>
          <a:xfrm>
            <a:off x="6985178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297369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407554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Validate</a:t>
            </a:r>
            <a:endParaRPr lang="en-GB" sz="1808" dirty="0"/>
          </a:p>
        </p:txBody>
      </p:sp>
      <p:sp>
        <p:nvSpPr>
          <p:cNvPr id="18" name="Text 16"/>
          <p:cNvSpPr/>
          <p:nvPr/>
        </p:nvSpPr>
        <p:spPr>
          <a:xfrm>
            <a:off x="7407554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and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</a:t>
            </a:r>
            <a:endParaRPr lang="en-GB" sz="1456" dirty="0"/>
          </a:p>
        </p:txBody>
      </p:sp>
      <p:sp>
        <p:nvSpPr>
          <p:cNvPr id="19" name="Shape 17"/>
          <p:cNvSpPr/>
          <p:nvPr/>
        </p:nvSpPr>
        <p:spPr>
          <a:xfrm>
            <a:off x="9225610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53780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64798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Publish</a:t>
            </a:r>
            <a:endParaRPr lang="en-GB" sz="1808" dirty="0"/>
          </a:p>
        </p:txBody>
      </p:sp>
      <p:sp>
        <p:nvSpPr>
          <p:cNvPr id="22" name="Text 20"/>
          <p:cNvSpPr/>
          <p:nvPr/>
        </p:nvSpPr>
        <p:spPr>
          <a:xfrm>
            <a:off x="964798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</a:t>
            </a:r>
            <a:endParaRPr lang="en-GB" sz="1456" dirty="0"/>
          </a:p>
        </p:txBody>
      </p:sp>
      <p:sp>
        <p:nvSpPr>
          <p:cNvPr id="23" name="Text 21"/>
          <p:cNvSpPr/>
          <p:nvPr/>
        </p:nvSpPr>
        <p:spPr>
          <a:xfrm>
            <a:off x="1586103" y="3941940"/>
            <a:ext cx="8998458" cy="26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0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previous snapshot stays visible until the Workspace manifest is created.</a:t>
            </a:r>
            <a:endParaRPr lang="en-GB" sz="1506" dirty="0"/>
          </a:p>
        </p:txBody>
      </p:sp>
      <p:sp>
        <p:nvSpPr>
          <p:cNvPr id="24" name="Text 22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src/atlas/backend.ts</a:t>
            </a:r>
            <a:endParaRPr lang="en-GB" sz="1050" dirty="0"/>
          </a:p>
        </p:txBody>
      </p:sp>
      <p:sp>
        <p:nvSpPr>
          <p:cNvPr id="25" name="Text 23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COLLECTION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process large workspaces without restarting the run.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1102309" y="3523183"/>
            <a:ext cx="6242152" cy="0"/>
          </a:xfrm>
          <a:prstGeom prst="line">
            <a:avLst/>
          </a:prstGeom>
          <a:noFill/>
          <a:ln w="23432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36701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86739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</a:t>
            </a:r>
            <a:endParaRPr lang="en-GB" sz="1251" dirty="0"/>
          </a:p>
        </p:txBody>
      </p:sp>
      <p:sp>
        <p:nvSpPr>
          <p:cNvPr id="7" name="Shape 5"/>
          <p:cNvSpPr/>
          <p:nvPr/>
        </p:nvSpPr>
        <p:spPr>
          <a:xfrm>
            <a:off x="455600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8071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GB" sz="1486" dirty="0"/>
          </a:p>
        </p:txBody>
      </p:sp>
      <p:sp>
        <p:nvSpPr>
          <p:cNvPr id="9" name="Text 7"/>
          <p:cNvSpPr/>
          <p:nvPr/>
        </p:nvSpPr>
        <p:spPr>
          <a:xfrm>
            <a:off x="568071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and items</a:t>
            </a:r>
            <a:endParaRPr lang="en-GB" sz="1107" dirty="0"/>
          </a:p>
        </p:txBody>
      </p:sp>
      <p:sp>
        <p:nvSpPr>
          <p:cNvPr id="10" name="Shape 8"/>
          <p:cNvSpPr/>
          <p:nvPr/>
        </p:nvSpPr>
        <p:spPr>
          <a:xfrm>
            <a:off x="1158545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564435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14473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T1</a:t>
            </a:r>
            <a:endParaRPr lang="en-GB" sz="1251" dirty="0"/>
          </a:p>
        </p:txBody>
      </p:sp>
      <p:sp>
        <p:nvSpPr>
          <p:cNvPr id="13" name="Shape 11"/>
          <p:cNvSpPr/>
          <p:nvPr/>
        </p:nvSpPr>
        <p:spPr>
          <a:xfrm>
            <a:off x="1983334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095805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GB" sz="1486" dirty="0"/>
          </a:p>
        </p:txBody>
      </p:sp>
      <p:sp>
        <p:nvSpPr>
          <p:cNvPr id="15" name="Text 13"/>
          <p:cNvSpPr/>
          <p:nvPr/>
        </p:nvSpPr>
        <p:spPr>
          <a:xfrm>
            <a:off x="2095805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by item type</a:t>
            </a:r>
            <a:endParaRPr lang="en-GB" sz="1107" dirty="0"/>
          </a:p>
        </p:txBody>
      </p:sp>
      <p:sp>
        <p:nvSpPr>
          <p:cNvPr id="16" name="Shape 14"/>
          <p:cNvSpPr/>
          <p:nvPr/>
        </p:nvSpPr>
        <p:spPr>
          <a:xfrm>
            <a:off x="2686279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092169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942207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T2</a:t>
            </a:r>
            <a:endParaRPr lang="en-GB" sz="1251" dirty="0"/>
          </a:p>
        </p:txBody>
      </p:sp>
      <p:sp>
        <p:nvSpPr>
          <p:cNvPr id="19" name="Shape 17"/>
          <p:cNvSpPr/>
          <p:nvPr/>
        </p:nvSpPr>
        <p:spPr>
          <a:xfrm>
            <a:off x="3511067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623539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1</a:t>
            </a:r>
            <a:endParaRPr lang="en-GB" sz="1486" dirty="0"/>
          </a:p>
        </p:txBody>
      </p:sp>
      <p:sp>
        <p:nvSpPr>
          <p:cNvPr id="21" name="Text 19"/>
          <p:cNvSpPr/>
          <p:nvPr/>
        </p:nvSpPr>
        <p:spPr>
          <a:xfrm>
            <a:off x="3623539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4 IDs</a:t>
            </a:r>
            <a:endParaRPr lang="en-GB" sz="1107" dirty="0"/>
          </a:p>
        </p:txBody>
      </p:sp>
      <p:sp>
        <p:nvSpPr>
          <p:cNvPr id="22" name="Shape 20"/>
          <p:cNvSpPr/>
          <p:nvPr/>
        </p:nvSpPr>
        <p:spPr>
          <a:xfrm>
            <a:off x="4214012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619902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69941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T3</a:t>
            </a:r>
            <a:endParaRPr lang="en-GB" sz="1251" dirty="0"/>
          </a:p>
        </p:txBody>
      </p:sp>
      <p:sp>
        <p:nvSpPr>
          <p:cNvPr id="25" name="Shape 23"/>
          <p:cNvSpPr/>
          <p:nvPr/>
        </p:nvSpPr>
        <p:spPr>
          <a:xfrm>
            <a:off x="5038801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51272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gaps</a:t>
            </a:r>
            <a:endParaRPr lang="en-GB" sz="1486" dirty="0"/>
          </a:p>
        </p:txBody>
      </p:sp>
      <p:sp>
        <p:nvSpPr>
          <p:cNvPr id="27" name="Text 25"/>
          <p:cNvSpPr/>
          <p:nvPr/>
        </p:nvSpPr>
        <p:spPr>
          <a:xfrm>
            <a:off x="5151272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remaining gaps</a:t>
            </a:r>
            <a:endParaRPr lang="en-GB" sz="1107" dirty="0"/>
          </a:p>
        </p:txBody>
      </p:sp>
      <p:sp>
        <p:nvSpPr>
          <p:cNvPr id="28" name="Shape 26"/>
          <p:cNvSpPr/>
          <p:nvPr/>
        </p:nvSpPr>
        <p:spPr>
          <a:xfrm>
            <a:off x="5741746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147636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997675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T4</a:t>
            </a:r>
            <a:endParaRPr lang="en-GB" sz="1251" dirty="0"/>
          </a:p>
        </p:txBody>
      </p:sp>
      <p:sp>
        <p:nvSpPr>
          <p:cNvPr id="31" name="Shape 29"/>
          <p:cNvSpPr/>
          <p:nvPr/>
        </p:nvSpPr>
        <p:spPr>
          <a:xfrm>
            <a:off x="6566535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679006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</a:t>
            </a:r>
            <a:endParaRPr lang="en-GB" sz="1486" dirty="0"/>
          </a:p>
        </p:txBody>
      </p:sp>
      <p:sp>
        <p:nvSpPr>
          <p:cNvPr id="33" name="Text 31"/>
          <p:cNvSpPr/>
          <p:nvPr/>
        </p:nvSpPr>
        <p:spPr>
          <a:xfrm>
            <a:off x="6679006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→ Publish</a:t>
            </a:r>
            <a:endParaRPr lang="en-GB" sz="1107" dirty="0"/>
          </a:p>
        </p:txBody>
      </p:sp>
      <p:sp>
        <p:nvSpPr>
          <p:cNvPr id="34" name="Shape 32"/>
          <p:cNvSpPr/>
          <p:nvPr/>
        </p:nvSpPr>
        <p:spPr>
          <a:xfrm>
            <a:off x="7269480" y="2970200"/>
            <a:ext cx="0" cy="403022"/>
          </a:xfrm>
          <a:prstGeom prst="line">
            <a:avLst/>
          </a:prstGeom>
          <a:noFill/>
          <a:ln w="23432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83564" y="5060290"/>
            <a:ext cx="6467094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invocation has bounded time, attempts, pages and response size.</a:t>
            </a:r>
            <a:endParaRPr lang="en-GB" sz="1271" dirty="0"/>
          </a:p>
          <a:p>
            <a:pPr marL="0" indent="0" algn="ctr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evidence is retained while remaining work continues.</a:t>
            </a:r>
            <a:endParaRPr lang="en-GB" sz="1271" dirty="0"/>
          </a:p>
        </p:txBody>
      </p:sp>
      <p:sp>
        <p:nvSpPr>
          <p:cNvPr id="36" name="Text 34"/>
          <p:cNvSpPr/>
          <p:nvPr/>
        </p:nvSpPr>
        <p:spPr>
          <a:xfrm>
            <a:off x="8266176" y="1673352"/>
            <a:ext cx="3264408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creates the workspace and item plan.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collectors handle Ontology 2.0, Item Relations, KQL, SQL and Power BI.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runs only the requested scanner, PBIR-Legacy and Kusto gaps.</a:t>
            </a:r>
            <a:endParaRPr lang="en-GB" sz="1600" dirty="0"/>
          </a:p>
        </p:txBody>
      </p:sp>
      <p:sp>
        <p:nvSpPr>
          <p:cNvPr id="37" name="Text 3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rayfin/functions/</a:t>
            </a:r>
            <a:endParaRPr lang="en-GB" sz="1050" dirty="0"/>
          </a:p>
        </p:txBody>
      </p:sp>
      <p:sp>
        <p:nvSpPr>
          <p:cNvPr id="38" name="Text 3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SNAPSHOTS AND DATA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Workspace manifest publishes only a snapshot Atlas can read back.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73780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59947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GB" sz="1541" dirty="0"/>
          </a:p>
        </p:txBody>
      </p:sp>
      <p:sp>
        <p:nvSpPr>
          <p:cNvPr id="6" name="Text 4"/>
          <p:cNvSpPr/>
          <p:nvPr/>
        </p:nvSpPr>
        <p:spPr>
          <a:xfrm>
            <a:off x="1094834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candidate rows</a:t>
            </a:r>
            <a:endParaRPr lang="en-GB" sz="1469" dirty="0"/>
          </a:p>
        </p:txBody>
      </p:sp>
      <p:sp>
        <p:nvSpPr>
          <p:cNvPr id="7" name="Text 5"/>
          <p:cNvSpPr/>
          <p:nvPr/>
        </p:nvSpPr>
        <p:spPr>
          <a:xfrm>
            <a:off x="90692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snapshotId on all synchronized entities</a:t>
            </a:r>
            <a:endParaRPr lang="en-GB" sz="1182" dirty="0"/>
          </a:p>
        </p:txBody>
      </p:sp>
      <p:sp>
        <p:nvSpPr>
          <p:cNvPr id="8" name="Shape 6"/>
          <p:cNvSpPr/>
          <p:nvPr/>
        </p:nvSpPr>
        <p:spPr>
          <a:xfrm>
            <a:off x="2757830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9941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321558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541" dirty="0"/>
          </a:p>
        </p:txBody>
      </p:sp>
      <p:sp>
        <p:nvSpPr>
          <p:cNvPr id="11" name="Text 9"/>
          <p:cNvSpPr/>
          <p:nvPr/>
        </p:nvSpPr>
        <p:spPr>
          <a:xfrm>
            <a:off x="355644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 and validate</a:t>
            </a:r>
            <a:endParaRPr lang="en-GB" sz="1469" dirty="0"/>
          </a:p>
        </p:txBody>
      </p:sp>
      <p:sp>
        <p:nvSpPr>
          <p:cNvPr id="12" name="Text 10"/>
          <p:cNvSpPr/>
          <p:nvPr/>
        </p:nvSpPr>
        <p:spPr>
          <a:xfrm>
            <a:off x="336853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Writer, counts, chunks and reconstructed catalog</a:t>
            </a:r>
            <a:endParaRPr lang="en-GB" sz="1182" dirty="0"/>
          </a:p>
        </p:txBody>
      </p:sp>
      <p:sp>
        <p:nvSpPr>
          <p:cNvPr id="13" name="Shape 11"/>
          <p:cNvSpPr/>
          <p:nvPr/>
        </p:nvSpPr>
        <p:spPr>
          <a:xfrm>
            <a:off x="5219441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61028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783169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541" dirty="0"/>
          </a:p>
        </p:txBody>
      </p:sp>
      <p:sp>
        <p:nvSpPr>
          <p:cNvPr id="16" name="Text 14"/>
          <p:cNvSpPr/>
          <p:nvPr/>
        </p:nvSpPr>
        <p:spPr>
          <a:xfrm>
            <a:off x="601805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Workspace manifest</a:t>
            </a:r>
            <a:endParaRPr lang="en-GB" sz="1469" dirty="0"/>
          </a:p>
        </p:txBody>
      </p:sp>
      <p:sp>
        <p:nvSpPr>
          <p:cNvPr id="17" name="Text 15"/>
          <p:cNvSpPr/>
          <p:nvPr/>
        </p:nvSpPr>
        <p:spPr>
          <a:xfrm>
            <a:off x="5830146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new snapshot becomes visible</a:t>
            </a:r>
            <a:endParaRPr lang="en-GB" sz="1182" dirty="0"/>
          </a:p>
        </p:txBody>
      </p:sp>
      <p:sp>
        <p:nvSpPr>
          <p:cNvPr id="18" name="Shape 16"/>
          <p:cNvSpPr/>
          <p:nvPr/>
        </p:nvSpPr>
        <p:spPr>
          <a:xfrm>
            <a:off x="1348511" y="4394424"/>
            <a:ext cx="5825185" cy="80801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611584" y="4572937"/>
            <a:ext cx="5299039" cy="48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2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before the manifest → candidate rows stay invisible and readers keep the previous snapshot.</a:t>
            </a:r>
            <a:endParaRPr lang="en-GB" sz="1325" dirty="0"/>
          </a:p>
        </p:txBody>
      </p:sp>
      <p:sp>
        <p:nvSpPr>
          <p:cNvPr id="20" name="Text 18"/>
          <p:cNvSpPr/>
          <p:nvPr/>
        </p:nvSpPr>
        <p:spPr>
          <a:xfrm>
            <a:off x="8257032" y="1746504"/>
            <a:ext cx="3291840" cy="3255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Child rows use one new snapshotId.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Read-back uses the same path as application startup.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is written last and acts as the visibility switch.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Hub combines the manifest with persisted SyncRun status.</a:t>
            </a:r>
            <a:endParaRPr lang="en-GB" sz="1600" dirty="0"/>
          </a:p>
        </p:txBody>
      </p:sp>
      <p:sp>
        <p:nvSpPr>
          <p:cNvPr id="21" name="Text 19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docs/data-model.md · src/atlas/backend.ts</a:t>
            </a:r>
            <a:endParaRPr lang="en-GB" sz="1050" dirty="0"/>
          </a:p>
        </p:txBody>
      </p:sp>
      <p:sp>
        <p:nvSpPr>
          <p:cNvPr id="22" name="Text 20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GB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ENTITY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receives twenty-six entity classes across four lifetimes.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4980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catalog</a:t>
            </a:r>
            <a:endParaRPr lang="en-GB" sz="2100" dirty="0"/>
          </a:p>
        </p:txBody>
      </p:sp>
      <p:sp>
        <p:nvSpPr>
          <p:cNvPr id="5" name="Text 3"/>
          <p:cNvSpPr/>
          <p:nvPr/>
        </p:nvSpPr>
        <p:spPr>
          <a:xfrm>
            <a:off x="749808" y="21214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Workspace, FabricItem, LineageEdge, Principal,</a:t>
            </a:r>
            <a:endParaRPr lang="en-GB" sz="1700" dirty="0"/>
          </a:p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AccessGrant, JobRun and ConfigEntry</a:t>
            </a:r>
            <a:endParaRPr lang="en-GB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and evidence state</a:t>
            </a:r>
            <a:endParaRPr lang="en-GB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34930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runs, tasks, commands, payload records and evidence snapshots</a:t>
            </a:r>
            <a:endParaRPr lang="en-GB" sz="1700" dirty="0"/>
          </a:p>
        </p:txBody>
      </p:sp>
      <p:sp>
        <p:nvSpPr>
          <p:cNvPr id="8" name="Text 6"/>
          <p:cNvSpPr/>
          <p:nvPr/>
        </p:nvSpPr>
        <p:spPr>
          <a:xfrm>
            <a:off x="614476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control state</a:t>
            </a:r>
            <a:endParaRPr lang="en-GB" sz="2100" dirty="0"/>
          </a:p>
        </p:txBody>
      </p:sp>
      <p:sp>
        <p:nvSpPr>
          <p:cNvPr id="9" name="Text 7"/>
          <p:cNvSpPr/>
          <p:nvPr/>
        </p:nvSpPr>
        <p:spPr>
          <a:xfrm>
            <a:off x="6144768" y="2121408"/>
            <a:ext cx="4736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Comment, policies, exceptions, WorkspaceScope and synchronizer authority</a:t>
            </a:r>
            <a:endParaRPr lang="en-GB" sz="1700" dirty="0"/>
          </a:p>
        </p:txBody>
      </p:sp>
      <p:sp>
        <p:nvSpPr>
          <p:cNvPr id="10" name="Text 8"/>
          <p:cNvSpPr/>
          <p:nvPr/>
        </p:nvSpPr>
        <p:spPr>
          <a:xfrm>
            <a:off x="614476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state</a:t>
            </a:r>
            <a:endParaRPr lang="en-GB" sz="2100" dirty="0"/>
          </a:p>
        </p:txBody>
      </p:sp>
      <p:sp>
        <p:nvSpPr>
          <p:cNvPr id="11" name="Text 9"/>
          <p:cNvSpPr/>
          <p:nvPr/>
        </p:nvSpPr>
        <p:spPr>
          <a:xfrm>
            <a:off x="6144768" y="3493008"/>
            <a:ext cx="473659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SavedView, AccessReview, AccessReviewEvent and FindingAck</a:t>
            </a:r>
            <a:endParaRPr lang="en-GB" sz="1650" dirty="0"/>
          </a:p>
          <a:p>
            <a:pPr marL="0" indent="0" algn="l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filtered by user_id.</a:t>
            </a:r>
            <a:endParaRPr lang="en-GB" sz="1650" dirty="0"/>
          </a:p>
        </p:txBody>
      </p:sp>
      <p:sp>
        <p:nvSpPr>
          <p:cNvPr id="12" name="Text 10"/>
          <p:cNvSpPr/>
          <p:nvPr/>
        </p:nvSpPr>
        <p:spPr>
          <a:xfrm>
            <a:off x="758952" y="49560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entity classes define the database schema and the authorization boundary.</a:t>
            </a:r>
            <a:endParaRPr lang="en-GB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</a:t>
            </a:r>
            <a:endParaRPr lang="en-GB" sz="1050" dirty="0"/>
          </a:p>
        </p:txBody>
      </p:sp>
      <p:sp>
        <p:nvSpPr>
          <p:cNvPr id="14" name="Text 1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7744"/>
            <a:ext cx="4114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LOGICAL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8412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50" b="1">
                <a:solidFill>
                  <a:srgbClr val="242424"/>
                </a:solidFill>
                <a:latin typeface="Segoe UI"/>
              </a:rPr>
              <a:t>The core UML shows snapshot entities and logical associations.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72184"/>
            <a:ext cx="7726679" cy="4443984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-u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732" y="1554480"/>
            <a:ext cx="4908175" cy="4279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57616" y="1673352"/>
            <a:ext cx="3227832" cy="406908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Selected properties mirror the core TypeScript entities.</a:t>
            </a:r>
          </a:p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Workspace publishes a manifest; FabricItem anchors item evidence.</a:t>
            </a:r>
          </a:p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Additional v2 sync and evidence entities are grouped outside this core 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rayfin/data/*.ts (core entities)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7744"/>
            <a:ext cx="43891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PHYSICAL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7863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242424"/>
                </a:solidFill>
                <a:latin typeface="Segoe UI"/>
              </a:rPr>
              <a:t>The MPD shows the fifteen core MSSQL tables and logical links.</a:t>
            </a:r>
          </a:p>
        </p:txBody>
      </p:sp>
      <p:pic>
        <p:nvPicPr>
          <p:cNvPr id="4" name="Picture 3" descr="04-mpd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94597"/>
            <a:ext cx="11420856" cy="3625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25312"/>
            <a:ext cx="1082649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0" b="1">
                <a:solidFill>
                  <a:srgbClr val="117865"/>
                </a:solidFill>
                <a:latin typeface="Segoe UI"/>
              </a:rPr>
              <a:t>Fabric Atlas 2.6 keeps eleven sync, scope and evidence tables outside this core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rayfin/data/schema.ts · @microsoft/rayfin-core 1.36.2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SCHEMA GENERATION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turns decorated TypeScript classes into the Fabric SQL data model.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690829" y="1764198"/>
            <a:ext cx="1926069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41157" y="1858152"/>
            <a:ext cx="1625415" cy="50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GB" sz="1562" dirty="0"/>
          </a:p>
          <a:p>
            <a:pPr marL="0" indent="0" algn="ctr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entities</a:t>
            </a:r>
            <a:endParaRPr lang="en-GB" sz="1562" dirty="0"/>
          </a:p>
        </p:txBody>
      </p:sp>
      <p:sp>
        <p:nvSpPr>
          <p:cNvPr id="6" name="Text 4"/>
          <p:cNvSpPr/>
          <p:nvPr/>
        </p:nvSpPr>
        <p:spPr>
          <a:xfrm>
            <a:off x="841157" y="2384298"/>
            <a:ext cx="1625415" cy="3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5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@entity · fields · policies</a:t>
            </a:r>
            <a:endParaRPr lang="en-GB" sz="1151" dirty="0"/>
          </a:p>
        </p:txBody>
      </p:sp>
      <p:sp>
        <p:nvSpPr>
          <p:cNvPr id="7" name="Shape 5"/>
          <p:cNvSpPr/>
          <p:nvPr/>
        </p:nvSpPr>
        <p:spPr>
          <a:xfrm>
            <a:off x="2673271" y="2215180"/>
            <a:ext cx="488564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227603" y="1764198"/>
            <a:ext cx="1362342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68535" y="2046061"/>
            <a:ext cx="108047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44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</a:t>
            </a:r>
            <a:endParaRPr lang="en-GB" sz="1644" dirty="0"/>
          </a:p>
        </p:txBody>
      </p:sp>
      <p:sp>
        <p:nvSpPr>
          <p:cNvPr id="10" name="Shape 8"/>
          <p:cNvSpPr/>
          <p:nvPr/>
        </p:nvSpPr>
        <p:spPr>
          <a:xfrm>
            <a:off x="4655713" y="2215180"/>
            <a:ext cx="497959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219441" y="1764198"/>
            <a:ext cx="1277783" cy="892569"/>
          </a:xfrm>
          <a:prstGeom prst="roundRect">
            <a:avLst>
              <a:gd name="adj" fmla="val 842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369768" y="2046061"/>
            <a:ext cx="97712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44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up</a:t>
            </a:r>
            <a:endParaRPr lang="en-GB" sz="1644" dirty="0"/>
          </a:p>
        </p:txBody>
      </p:sp>
      <p:sp>
        <p:nvSpPr>
          <p:cNvPr id="13" name="Shape 11"/>
          <p:cNvSpPr/>
          <p:nvPr/>
        </p:nvSpPr>
        <p:spPr>
          <a:xfrm>
            <a:off x="6732110" y="1595079"/>
            <a:ext cx="1099269" cy="1230805"/>
          </a:xfrm>
          <a:prstGeom prst="roundRect">
            <a:avLst>
              <a:gd name="adj" fmla="val 6838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26065" y="1698429"/>
            <a:ext cx="911360" cy="1033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API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SQL</a:t>
            </a:r>
            <a:endParaRPr lang="en-GB" sz="1161" dirty="0"/>
          </a:p>
        </p:txBody>
      </p:sp>
      <p:sp>
        <p:nvSpPr>
          <p:cNvPr id="15" name="Shape 13"/>
          <p:cNvSpPr/>
          <p:nvPr/>
        </p:nvSpPr>
        <p:spPr>
          <a:xfrm>
            <a:off x="6562992" y="2215180"/>
            <a:ext cx="150327" cy="0"/>
          </a:xfrm>
          <a:prstGeom prst="line">
            <a:avLst/>
          </a:prstGeom>
          <a:noFill/>
          <a:ln w="23489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27603" y="3530544"/>
            <a:ext cx="1747556" cy="1033501"/>
          </a:xfrm>
          <a:prstGeom prst="roundRect">
            <a:avLst>
              <a:gd name="adj" fmla="val 7273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387326" y="3699662"/>
            <a:ext cx="1428110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RayfinClient</a:t>
            </a:r>
            <a:endParaRPr lang="en-GB" sz="1315" dirty="0"/>
          </a:p>
          <a:p>
            <a:pPr marL="0" indent="0" algn="ctr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GraphQL proxies</a:t>
            </a:r>
            <a:endParaRPr lang="en-GB" sz="1315" dirty="0"/>
          </a:p>
        </p:txBody>
      </p:sp>
      <p:sp>
        <p:nvSpPr>
          <p:cNvPr id="18" name="Shape 16"/>
          <p:cNvSpPr/>
          <p:nvPr/>
        </p:nvSpPr>
        <p:spPr>
          <a:xfrm>
            <a:off x="3913472" y="2722535"/>
            <a:ext cx="0" cy="742241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31532" y="3981526"/>
            <a:ext cx="127778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309314" y="2778907"/>
            <a:ext cx="0" cy="1202619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309314" y="2778907"/>
            <a:ext cx="404005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275320" y="1700784"/>
            <a:ext cx="3246120" cy="3310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decorators define SQL types, limits and optional values.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 decorators generate read and write policies.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 registers the 26 entities used by RayfinClient.</a:t>
            </a:r>
            <a:endParaRPr lang="en-GB" sz="1600" dirty="0"/>
          </a:p>
        </p:txBody>
      </p:sp>
      <p:sp>
        <p:nvSpPr>
          <p:cNvPr id="23" name="Text 2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 · rayfin/rayfin.yml</a:t>
            </a:r>
            <a:endParaRPr lang="en-GB" sz="1050" dirty="0"/>
          </a:p>
        </p:txBody>
      </p:sp>
      <p:sp>
        <p:nvSpPr>
          <p:cNvPr id="24" name="Text 2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 GAPS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platform gaps keep the Python compatibility UDF.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31520" y="1627632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Power BI application audience or first-party scanner connector.</a:t>
            </a:r>
            <a:endParaRPr lang="en-GB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Kusto application audience for live schema metadata.</a:t>
            </a:r>
            <a:endParaRPr lang="en-GB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218688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PBIR-Legacy report-page coverage.</a:t>
            </a:r>
            <a:endParaRPr lang="en-GB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4014216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Once all three pass parity, delete sync_compatibility and the Python UDF.</a:t>
            </a:r>
            <a:endParaRPr lang="en-GB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61320" cy="658368"/>
          </a:xfrm>
          <a:prstGeom prst="roundRect">
            <a:avLst>
              <a:gd name="adj" fmla="val 5556"/>
            </a:avLst>
          </a:prstGeom>
          <a:solidFill>
            <a:srgbClr val="E3F7EF"/>
          </a:solidFill>
          <a:ln w="1270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" y="5230368"/>
            <a:ext cx="101132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40" b="1" dirty="0">
                <a:solidFill>
                  <a:srgbClr val="0C69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Scheduling is separate: it needs an unattended trigger plus durable claim and publication fencing.</a:t>
            </a:r>
            <a:endParaRPr lang="en-GB" sz="1340" dirty="0"/>
          </a:p>
        </p:txBody>
      </p:sp>
      <p:sp>
        <p:nvSpPr>
          <p:cNvPr id="10" name="Text 8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docs/rayfin-platform-gaps.md</a:t>
            </a:r>
            <a:endParaRPr lang="en-GB" sz="1050" dirty="0"/>
          </a:p>
        </p:txBody>
      </p:sp>
      <p:sp>
        <p:nvSpPr>
          <p:cNvPr id="11" name="Text 9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GB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74520"/>
            <a:ext cx="10469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trusted catalog stays available</a:t>
            </a:r>
            <a:endParaRPr lang="en-GB" sz="3600" dirty="0"/>
          </a:p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the next snapshot is built.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5021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 with Rayfin Functions. Keep exact compatibility gaps. Publish after read-back.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608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3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feedback</a:t>
            </a:r>
            <a:endParaRPr lang="en-GB" sz="2300" dirty="0"/>
          </a:p>
        </p:txBody>
      </p:sp>
      <p:sp>
        <p:nvSpPr>
          <p:cNvPr id="8" name="Text 4"/>
          <p:cNvSpPr/>
          <p:nvPr/>
        </p:nvSpPr>
        <p:spPr>
          <a:xfrm>
            <a:off x="722376" y="513892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github.com/fredgis/FabricAtlas</a:t>
            </a:r>
            <a:endParaRPr lang="en-GB" sz="1700" dirty="0"/>
          </a:p>
        </p:txBody>
      </p:sp>
      <p:sp>
        <p:nvSpPr>
          <p:cNvPr id="9" name="Text 5"/>
          <p:cNvSpPr/>
          <p:nvPr/>
        </p:nvSpPr>
        <p:spPr>
          <a:xfrm>
            <a:off x="722376" y="576986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4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· Fabric SQL · Multi-workspace · Metadata only</a:t>
            </a:r>
            <a:endParaRPr lang="en-GB" sz="1400" dirty="0"/>
          </a:p>
        </p:txBody>
      </p:sp>
      <p:sp>
        <p:nvSpPr>
          <p:cNvPr id="10" name="Text 6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github.com/fredgis/FabricAtlas</a:t>
            </a:r>
            <a:endParaRPr lang="en-GB" sz="1050" dirty="0"/>
          </a:p>
        </p:txBody>
      </p:sp>
      <p:sp>
        <p:nvSpPr>
          <p:cNvPr id="11" name="Text 7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GB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881</Words>
  <Application>Microsoft Office PowerPoint</Application>
  <PresentationFormat>Widescreen</PresentationFormat>
  <Paragraphs>146</Paragraphs>
  <Slides>13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Fabric Atlas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Atlas: development and architecture</dc:title>
  <dc:subject>C4 architecture, UDF synchronization and Rayfin snapshots</dc:subject>
  <dc:creator>Fabric Atlas</dc:creator>
  <cp:lastModifiedBy>Frederic Gisbert</cp:lastModifiedBy>
  <cp:revision>4</cp:revision>
  <dcterms:created xsi:type="dcterms:W3CDTF">2026-09-19T12:05:53Z</dcterms:created>
  <dcterms:modified xsi:type="dcterms:W3CDTF">2026-10-17T17:04:51Z</dcterms:modified>
</cp:coreProperties>
</file>