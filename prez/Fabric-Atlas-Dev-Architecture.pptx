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7" r:id="rId18"/>
    <p:sldId id="268" r:id="rId19"/>
    <p:sldId id="269" r:id="rId20"/>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Atlas
Fabric Atlas brings workspace governance metadata into one Fabric app. This short presentation explains the architecture and the main choices that make synchronization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Atlas gives the team one consistent workspace view. Catalog, lineage, access, operations and governance read the same snapshot. Atlas does not copy business rows from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The browser is the orchestrator. It calls the UDF to read Fabric, then uses Rayfin to write and reload the catalog. The UDF has no direct write path to the Atlas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Connect checks the identity. Discover collects metadata. Map builds the model. Persist writes and reads back. Finalize creates the manifest. The previous snapshot stays active until this final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UDF slices
The client splits discovery into bounded calls. It keeps completed work, renews tokens when needed, splits batches after timeouts and stops retrying when an item makes no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Snapshot publication
Atlas writes the child rows, reloads them through the normal startup path, checks counts and chunks, then creates Workspace last. Without a valid manifest, the candidate remains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Rayfin entity model
Atlas gives Rayfin fifteen decorated TypeScript entities. Seven entities form the replaceable snapshot catalog. SyncRun keeps the audit. Shared and personal records use separate lifetimes and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Rayfin generation
Rayfin reads the entity classes and schema registration. During rayfin up it generates the Data API Builder configuration and applies the Fabric SQL schema and permissions. schema.ts also gives RayfinClient typed GraphQL proxies for reads and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summary
The principle is simple: preserve completed work, but never activate an incomplete state. The separation between collection, mapping, persistence and publication is the technical core of Fabric Atlas.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Fabric Atlas keeps the current catalog available while the next one is collected, modelled and validated. The source diagrams and data model are included for further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UML class view of the core Atlas entities. It shows the selected TypeScript properties used to identify snapshots, items, principals, access, lineage, jobs and configuration. The lines are logical associations implemented with stable Fabric IDs. Atlas does not declare Rayfin navigation decorators for these links.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physical model is derived from the declared Rayfin entities and the installed Rayfin MSSQL type mapper. It is not a live database inspection. Rayfin pluralizes entity names for table names. UUID fields become UNIQUEIDENTIFIER, bounded text becomes NVARCHAR, dates become DATETIME2, booleans become BIT and sets become NVARCHAR columns with CHECK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access and audit tables follow the same physical mapping. workspace_id and snapshotId support scoped reads. principalRef and itemFabricId are text-based logical references. Rayfin would generate foreign keys from @one and @many decorators, but the Atlas entities do not declare those navigation properties, so this model contains no generated SQL foreign keys.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5F5"/>
        </a:solidFill>
      </p:bgPr>
    </p:bg>
    <p:spTree>
      <p:nvGrpSpPr>
        <p:cNvPr id="1" name=""/>
        <p:cNvGrpSpPr/>
        <p:nvPr/>
      </p:nvGrpSpPr>
      <p:grpSpPr>
        <a:xfrm>
          <a:off x="0" y="0"/>
          <a:ext cx="0" cy="0"/>
          <a:chOff x="0" y="0"/>
          <a:chExt cx="0" cy="0"/>
        </a:xfrm>
      </p:grpSpPr>
      <p:pic>
        <p:nvPicPr>
          <p:cNvPr id="2" name="Image 0" descr="Fond clair Fabric Atlas">    </p:cNvPr>
          <p:cNvPicPr>
            <a:picLocks noChangeAspect="1"/>
          </p:cNvPicPr>
          <p:nvPr/>
        </p:nvPicPr>
        <p:blipFill>
          <a:blip r:embed="rId1"/>
          <a:stretch>
            <a:fillRect/>
          </a:stretch>
        </p:blipFill>
        <p:spPr>
          <a:xfrm>
            <a:off x="310896" y="310896"/>
            <a:ext cx="11567160" cy="6035040"/>
          </a:xfrm>
          <a:prstGeom prst="rect">
            <a:avLst/>
          </a:prstGeom>
        </p:spPr>
      </p:pic>
      <p:pic>
        <p:nvPicPr>
          <p:cNvPr id="3" name="Image 1" descr="Logo Fabric Atlas">    </p:cNvPr>
          <p:cNvPicPr>
            <a:picLocks noChangeAspect="1"/>
          </p:cNvPicPr>
          <p:nvPr/>
        </p:nvPicPr>
        <p:blipFill>
          <a:blip r:embed="rId2"/>
          <a:stretch>
            <a:fillRect/>
          </a:stretch>
        </p:blipFill>
        <p:spPr>
          <a:xfrm>
            <a:off x="694944" y="749808"/>
            <a:ext cx="731520" cy="731520"/>
          </a:xfrm>
          <a:prstGeom prst="rect">
            <a:avLst/>
          </a:prstGeom>
        </p:spPr>
      </p:pic>
      <p:sp>
        <p:nvSpPr>
          <p:cNvPr id="4" name="Text 0"/>
          <p:cNvSpPr/>
          <p:nvPr/>
        </p:nvSpPr>
        <p:spPr>
          <a:xfrm>
            <a:off x="1682496" y="859536"/>
            <a:ext cx="3657600" cy="256032"/>
          </a:xfrm>
          <a:prstGeom prst="rect">
            <a:avLst/>
          </a:prstGeom>
          <a:noFill/>
          <a:ln/>
        </p:spPr>
        <p:txBody>
          <a:bodyPr wrap="square" lIns="0" tIns="0" rIns="0" bIns="0" rtlCol="0" anchor="t"/>
          <a:lstStyle/>
          <a:p>
            <a:pPr algn="l" indent="0" marL="0">
              <a:buNone/>
            </a:pPr>
            <a:r>
              <a:rPr lang="en-GB" altLang="en-US" sz="1250" b="1" dirty="0">
                <a:solidFill>
                  <a:srgbClr val="117865"/>
                </a:solidFill>
                <a:latin typeface="Segoe UI" pitchFamily="34" charset="0"/>
                <a:ea typeface="Segoe UI" pitchFamily="34" charset="-122"/>
                <a:cs typeface="Segoe UI" pitchFamily="34" charset="-120"/>
              </a:rPr>
              <a:t>FABRIC ATLAS</a:t>
            </a:r>
            <a:endParaRPr lang="en-GB" sz="1250" dirty="0"/>
          </a:p>
        </p:txBody>
      </p:sp>
      <p:sp>
        <p:nvSpPr>
          <p:cNvPr id="5" name="Text 1"/>
          <p:cNvSpPr/>
          <p:nvPr/>
        </p:nvSpPr>
        <p:spPr>
          <a:xfrm>
            <a:off x="694944" y="1847088"/>
            <a:ext cx="10469880" cy="1417320"/>
          </a:xfrm>
          <a:prstGeom prst="rect">
            <a:avLst/>
          </a:prstGeom>
          <a:noFill/>
          <a:ln/>
        </p:spPr>
        <p:txBody>
          <a:bodyPr wrap="square" lIns="0" tIns="0" rIns="0" bIns="0" rtlCol="0" anchor="t"/>
          <a:lstStyle/>
          <a:p>
            <a:pPr algn="l" indent="0" marL="0">
              <a:buNone/>
            </a:pPr>
            <a:r>
              <a:rPr lang="en-GB" altLang="en-US" sz="3600" b="1" dirty="0">
                <a:solidFill>
                  <a:srgbClr val="242424"/>
                </a:solidFill>
                <a:latin typeface="Segoe UI" pitchFamily="34" charset="0"/>
                <a:ea typeface="Segoe UI" pitchFamily="34" charset="-122"/>
                <a:cs typeface="Segoe UI" pitchFamily="34" charset="-120"/>
              </a:rPr>
              <a:t>Fabric Atlas turns Fabric metadata</a:t>
            </a:r>
            <a:endParaRPr lang="en-GB" sz="3600" dirty="0"/>
          </a:p>
          <a:p>
            <a:pPr algn="l" indent="0" marL="0">
              <a:buNone/>
            </a:pPr>
            <a:r>
              <a:rPr lang="en-GB" altLang="en-US" sz="3600" b="1" dirty="0">
                <a:solidFill>
                  <a:srgbClr val="242424"/>
                </a:solidFill>
                <a:latin typeface="Segoe UI" pitchFamily="34" charset="0"/>
                <a:ea typeface="Segoe UI" pitchFamily="34" charset="-122"/>
                <a:cs typeface="Segoe UI" pitchFamily="34" charset="-120"/>
              </a:rPr>
              <a:t>into a shared working catalog.</a:t>
            </a:r>
            <a:endParaRPr lang="en-GB" sz="3600" dirty="0"/>
          </a:p>
        </p:txBody>
      </p:sp>
      <p:sp>
        <p:nvSpPr>
          <p:cNvPr id="6" name="Text 2"/>
          <p:cNvSpPr/>
          <p:nvPr/>
        </p:nvSpPr>
        <p:spPr>
          <a:xfrm>
            <a:off x="722376" y="3465576"/>
            <a:ext cx="7498080" cy="365760"/>
          </a:xfrm>
          <a:prstGeom prst="rect">
            <a:avLst/>
          </a:prstGeom>
          <a:noFill/>
          <a:ln/>
        </p:spPr>
        <p:txBody>
          <a:bodyPr wrap="square" lIns="0" tIns="0" rIns="0" bIns="0" rtlCol="0" anchor="t"/>
          <a:lstStyle/>
          <a:p>
            <a:pPr algn="l" indent="0" marL="0">
              <a:buNone/>
            </a:pPr>
            <a:r>
              <a:rPr lang="en-GB" altLang="en-US" sz="2000" dirty="0">
                <a:solidFill>
                  <a:srgbClr val="0C695A"/>
                </a:solidFill>
                <a:latin typeface="Segoe UI" pitchFamily="34" charset="0"/>
                <a:ea typeface="Segoe UI" pitchFamily="34" charset="-122"/>
                <a:cs typeface="Segoe UI" pitchFamily="34" charset="-120"/>
              </a:rPr>
              <a:t>Development, architecture and implementation choices</a:t>
            </a:r>
            <a:endParaRPr lang="en-GB" sz="2000" dirty="0"/>
          </a:p>
        </p:txBody>
      </p:sp>
      <p:sp>
        <p:nvSpPr>
          <p:cNvPr id="7" name="Text 3"/>
          <p:cNvSpPr/>
          <p:nvPr/>
        </p:nvSpPr>
        <p:spPr>
          <a:xfrm>
            <a:off x="722376" y="4251960"/>
            <a:ext cx="7589520" cy="283464"/>
          </a:xfrm>
          <a:prstGeom prst="rect">
            <a:avLst/>
          </a:prstGeom>
          <a:noFill/>
          <a:ln/>
        </p:spPr>
        <p:txBody>
          <a:bodyPr wrap="square" lIns="0" tIns="0" rIns="0" bIns="0" rtlCol="0" anchor="t"/>
          <a:lstStyle/>
          <a:p>
            <a:pPr algn="l" indent="0" marL="0">
              <a:buNone/>
            </a:pPr>
            <a:r>
              <a:rPr lang="en-GB" altLang="en-US" sz="1600" dirty="0">
                <a:solidFill>
                  <a:srgbClr val="616161"/>
                </a:solidFill>
                <a:latin typeface="Segoe UI" pitchFamily="34" charset="0"/>
                <a:ea typeface="Segoe UI" pitchFamily="34" charset="-122"/>
                <a:cs typeface="Segoe UI" pitchFamily="34" charset="-120"/>
              </a:rPr>
              <a:t>React + Rayfin · Fabric User Data Functions · Fabric SQL</a:t>
            </a:r>
            <a:endParaRPr lang="en-GB" sz="1600" dirty="0"/>
          </a:p>
        </p:txBody>
      </p:sp>
      <p:sp>
        <p:nvSpPr>
          <p:cNvPr id="8" name="Text 4"/>
          <p:cNvSpPr/>
          <p:nvPr/>
        </p:nvSpPr>
        <p:spPr>
          <a:xfrm>
            <a:off x="722376" y="5202936"/>
            <a:ext cx="7589520" cy="347472"/>
          </a:xfrm>
          <a:prstGeom prst="rect">
            <a:avLst/>
          </a:prstGeom>
          <a:noFill/>
          <a:ln/>
        </p:spPr>
        <p:txBody>
          <a:bodyPr wrap="square" lIns="0" tIns="0" rIns="0" bIns="0" rtlCol="0" anchor="t"/>
          <a:lstStyle/>
          <a:p>
            <a:pPr algn="l" indent="0" marL="0">
              <a:buNone/>
            </a:pPr>
            <a:r>
              <a:rPr lang="en-GB" altLang="en-US" sz="2100" b="1" dirty="0">
                <a:solidFill>
                  <a:srgbClr val="242424"/>
                </a:solidFill>
                <a:latin typeface="Segoe UI" pitchFamily="34" charset="0"/>
                <a:ea typeface="Segoe UI" pitchFamily="34" charset="-122"/>
                <a:cs typeface="Segoe UI" pitchFamily="34" charset="-120"/>
              </a:rPr>
              <a:t>Connect → Discover → Map → Persist → Finalize</a:t>
            </a:r>
            <a:endParaRPr lang="en-GB" sz="2100" dirty="0"/>
          </a:p>
        </p:txBody>
      </p:sp>
      <p:sp>
        <p:nvSpPr>
          <p:cNvPr id="9" name="Text 5"/>
          <p:cNvSpPr/>
          <p:nvPr/>
        </p:nvSpPr>
        <p:spPr>
          <a:xfrm>
            <a:off x="722376" y="5815584"/>
            <a:ext cx="7315200" cy="228600"/>
          </a:xfrm>
          <a:prstGeom prst="rect">
            <a:avLst/>
          </a:prstGeom>
          <a:noFill/>
          <a:ln/>
        </p:spPr>
        <p:txBody>
          <a:bodyPr wrap="square" lIns="0" tIns="0" rIns="0" bIns="0" rtlCol="0" anchor="t"/>
          <a:lstStyle/>
          <a:p>
            <a:pPr algn="l" indent="0" marL="0">
              <a:buNone/>
            </a:pPr>
            <a:r>
              <a:rPr lang="en-GB" altLang="en-US" sz="1200" dirty="0">
                <a:solidFill>
                  <a:srgbClr val="616161"/>
                </a:solidFill>
                <a:latin typeface="Segoe UI" pitchFamily="34" charset="0"/>
                <a:ea typeface="Segoe UI" pitchFamily="34" charset="-122"/>
                <a:cs typeface="Segoe UI" pitchFamily="34" charset="-120"/>
              </a:rPr>
              <a:t>13 slides · September 2026 · Fabric Atlas 1.12.4</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PRODUCT</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One validated snapshot powers every view the team needs.</a:t>
            </a:r>
            <a:endParaRPr lang="en-GB" sz="2750" dirty="0"/>
          </a:p>
        </p:txBody>
      </p:sp>
      <p:sp>
        <p:nvSpPr>
          <p:cNvPr id="4" name="Shape 2"/>
          <p:cNvSpPr/>
          <p:nvPr/>
        </p:nvSpPr>
        <p:spPr>
          <a:xfrm>
            <a:off x="530352" y="1508760"/>
            <a:ext cx="7178040" cy="4142232"/>
          </a:xfrm>
          <a:prstGeom prst="roundRect">
            <a:avLst>
              <a:gd name="adj" fmla="val 1325"/>
            </a:avLst>
          </a:prstGeom>
          <a:solidFill>
            <a:srgbClr val="FFFFFF"/>
          </a:solidFill>
          <a:ln w="12700">
            <a:solidFill>
              <a:srgbClr val="E0E0E0"/>
            </a:solidFill>
            <a:prstDash val="solid"/>
          </a:ln>
        </p:spPr>
        <p:txBody>
          <a:bodyPr/>
          <a:p/>
        </p:txBody>
      </p:sp>
      <p:pic>
        <p:nvPicPr>
          <p:cNvPr id="5" name="Image 0" descr="Complete Fabric Atlas screenshot recolored in blue and green">    </p:cNvPr>
          <p:cNvPicPr>
            <a:picLocks noChangeAspect="1"/>
          </p:cNvPicPr>
          <p:nvPr/>
        </p:nvPicPr>
        <p:blipFill>
          <a:blip r:embed="rId1"/>
          <a:stretch>
            <a:fillRect/>
          </a:stretch>
        </p:blipFill>
        <p:spPr>
          <a:xfrm>
            <a:off x="594360" y="1783462"/>
            <a:ext cx="7050024" cy="3592827"/>
          </a:xfrm>
          <a:prstGeom prst="rect">
            <a:avLst/>
          </a:prstGeom>
        </p:spPr>
      </p:pic>
      <p:sp>
        <p:nvSpPr>
          <p:cNvPr id="6" name="Text 3"/>
          <p:cNvSpPr/>
          <p:nvPr/>
        </p:nvSpPr>
        <p:spPr>
          <a:xfrm>
            <a:off x="7973568" y="1627632"/>
            <a:ext cx="3584448" cy="3538728"/>
          </a:xfrm>
          <a:prstGeom prst="rect">
            <a:avLst/>
          </a:prstGeom>
          <a:noFill/>
          <a:ln/>
        </p:spPr>
        <p:txBody>
          <a:bodyPr wrap="square" lIns="254" tIns="254" rIns="254" bIns="254" rtlCol="0" anchor="ctr"/>
          <a:lstStyle/>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Catalog of Fabric items and internal objects.</a:t>
            </a:r>
            <a:endParaRPr lang="en-GB" sz="1720" dirty="0"/>
          </a:p>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Lineage, impact, effective access and recent jobs.</a:t>
            </a:r>
            <a:endParaRPr lang="en-GB" sz="1720" dirty="0"/>
          </a:p>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Governance, change history and shared team notes.</a:t>
            </a:r>
            <a:endParaRPr lang="en-GB" sz="1720" dirty="0"/>
          </a:p>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Reads use the Atlas snapshot; pages do not rescan Fabric.</a:t>
            </a:r>
            <a:endParaRPr lang="en-GB" sz="1720" dirty="0"/>
          </a:p>
        </p:txBody>
      </p:sp>
      <p:sp>
        <p:nvSpPr>
          <p:cNvPr id="7" name="Text 4"/>
          <p:cNvSpPr/>
          <p:nvPr/>
        </p:nvSpPr>
        <p:spPr>
          <a:xfrm>
            <a:off x="585216" y="5806440"/>
            <a:ext cx="7114032" cy="237744"/>
          </a:xfrm>
          <a:prstGeom prst="rect">
            <a:avLst/>
          </a:prstGeom>
          <a:noFill/>
          <a:ln/>
        </p:spPr>
        <p:txBody>
          <a:bodyPr wrap="square" lIns="0" tIns="0" rIns="0" bIns="0" rtlCol="0" anchor="t"/>
          <a:lstStyle/>
          <a:p>
            <a:pPr algn="l" indent="0" marL="0">
              <a:buNone/>
            </a:pPr>
            <a:r>
              <a:rPr lang="en-GB" altLang="en-US" sz="1120" dirty="0">
                <a:solidFill>
                  <a:srgbClr val="616161"/>
                </a:solidFill>
                <a:latin typeface="Segoe UI" pitchFamily="34" charset="0"/>
                <a:ea typeface="Segoe UI" pitchFamily="34" charset="-122"/>
                <a:cs typeface="Segoe UI" pitchFamily="34" charset="-120"/>
              </a:rPr>
              <a:t>Complete example workspace screenshot; the figures are not product defaults.</a:t>
            </a:r>
            <a:endParaRPr lang="en-GB" sz="1120" dirty="0"/>
          </a:p>
        </p:txBody>
      </p:sp>
      <p:sp>
        <p:nvSpPr>
          <p:cNvPr id="8" name="Text 5"/>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docs/screenshots/workspace-overview-v1111.png</a:t>
            </a:r>
            <a:endParaRPr lang="en-GB" sz="1050" dirty="0"/>
          </a:p>
        </p:txBody>
      </p:sp>
      <p:sp>
        <p:nvSpPr>
          <p:cNvPr id="9" name="Text 6"/>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2</a:t>
            </a:r>
            <a:endParaRPr lang="en-GB"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C4 ARCHITECTURE</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The browser separates Fabric collection from Rayfin publication.</a:t>
            </a:r>
            <a:endParaRPr lang="en-GB" sz="2750" dirty="0"/>
          </a:p>
        </p:txBody>
      </p:sp>
      <p:sp>
        <p:nvSpPr>
          <p:cNvPr id="4" name="Shape 2"/>
          <p:cNvSpPr/>
          <p:nvPr/>
        </p:nvSpPr>
        <p:spPr>
          <a:xfrm>
            <a:off x="438912" y="1389888"/>
            <a:ext cx="11320272" cy="4526280"/>
          </a:xfrm>
          <a:prstGeom prst="roundRect">
            <a:avLst>
              <a:gd name="adj" fmla="val 808"/>
            </a:avLst>
          </a:prstGeom>
          <a:solidFill>
            <a:srgbClr val="FFFFFF"/>
          </a:solidFill>
          <a:ln w="12700">
            <a:solidFill>
              <a:srgbClr val="E0E0E0"/>
            </a:solidFill>
            <a:prstDash val="solid"/>
          </a:ln>
        </p:spPr>
        <p:txBody>
          <a:bodyPr/>
          <a:p/>
        </p:txBody>
      </p:sp>
      <p:pic>
        <p:nvPicPr>
          <p:cNvPr id="5" name="Image 0" descr="Fabric Atlas C4 diagram">    </p:cNvPr>
          <p:cNvPicPr>
            <a:picLocks noChangeAspect="1"/>
          </p:cNvPicPr>
          <p:nvPr/>
        </p:nvPicPr>
        <p:blipFill>
          <a:blip r:embed="rId1"/>
          <a:stretch>
            <a:fillRect/>
          </a:stretch>
        </p:blipFill>
        <p:spPr>
          <a:xfrm>
            <a:off x="531194" y="1453896"/>
            <a:ext cx="11135708" cy="4398264"/>
          </a:xfrm>
          <a:prstGeom prst="rect">
            <a:avLst/>
          </a:prstGeom>
        </p:spPr>
      </p:pic>
      <p:sp>
        <p:nvSpPr>
          <p:cNvPr id="6" name="Text 3"/>
          <p:cNvSpPr/>
          <p:nvPr/>
        </p:nvSpPr>
        <p:spPr>
          <a:xfrm>
            <a:off x="566928" y="5971032"/>
            <a:ext cx="10972800" cy="274320"/>
          </a:xfrm>
          <a:prstGeom prst="rect">
            <a:avLst/>
          </a:prstGeom>
          <a:noFill/>
          <a:ln/>
        </p:spPr>
        <p:txBody>
          <a:bodyPr wrap="square" lIns="0" tIns="0" rIns="0" bIns="0" rtlCol="0" anchor="t"/>
          <a:lstStyle/>
          <a:p>
            <a:pPr algn="ctr" indent="0" marL="0">
              <a:buNone/>
            </a:pPr>
            <a:r>
              <a:rPr lang="en-GB" altLang="en-US" sz="1600" b="1" dirty="0">
                <a:solidFill>
                  <a:srgbClr val="0C695A"/>
                </a:solidFill>
                <a:latin typeface="Segoe UI" pitchFamily="34" charset="0"/>
                <a:ea typeface="Segoe UI" pitchFamily="34" charset="-122"/>
                <a:cs typeface="Segoe UI" pitchFamily="34" charset="-120"/>
              </a:rPr>
              <a:t>The UDF reads Fabric; the browser validates and publishes through Rayfin.</a:t>
            </a:r>
            <a:endParaRPr lang="en-GB" sz="1600" dirty="0"/>
          </a:p>
        </p:txBody>
      </p:sp>
      <p:sp>
        <p:nvSpPr>
          <p:cNvPr id="7" name="Text 4"/>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architecture/C4-containers.puml</a:t>
            </a:r>
            <a:endParaRPr lang="en-GB" sz="1050" dirty="0"/>
          </a:p>
        </p:txBody>
      </p:sp>
      <p:sp>
        <p:nvSpPr>
          <p:cNvPr id="8" name="Text 5"/>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3</a:t>
            </a:r>
            <a:endParaRPr lang="en-GB"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SYNCHRONIZATION PROCESS</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Synchronization follows five stages and replaces the catalog only at the end.</a:t>
            </a:r>
            <a:endParaRPr lang="en-GB" sz="2750" dirty="0"/>
          </a:p>
        </p:txBody>
      </p:sp>
      <p:sp>
        <p:nvSpPr>
          <p:cNvPr id="4" name="Shape 2"/>
          <p:cNvSpPr/>
          <p:nvPr/>
        </p:nvSpPr>
        <p:spPr>
          <a:xfrm>
            <a:off x="576072"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5" name="Text 3"/>
          <p:cNvSpPr/>
          <p:nvPr/>
        </p:nvSpPr>
        <p:spPr>
          <a:xfrm>
            <a:off x="686257"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1. Connect</a:t>
            </a:r>
            <a:endParaRPr lang="en-GB" sz="1808" dirty="0"/>
          </a:p>
        </p:txBody>
      </p:sp>
      <p:sp>
        <p:nvSpPr>
          <p:cNvPr id="6" name="Text 4"/>
          <p:cNvSpPr/>
          <p:nvPr/>
        </p:nvSpPr>
        <p:spPr>
          <a:xfrm>
            <a:off x="686257"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Check the</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identity</a:t>
            </a:r>
            <a:endParaRPr lang="en-GB" sz="1456" dirty="0"/>
          </a:p>
        </p:txBody>
      </p:sp>
      <p:sp>
        <p:nvSpPr>
          <p:cNvPr id="7" name="Shape 5"/>
          <p:cNvSpPr/>
          <p:nvPr/>
        </p:nvSpPr>
        <p:spPr>
          <a:xfrm>
            <a:off x="2504313" y="2849270"/>
            <a:ext cx="247917" cy="0"/>
          </a:xfrm>
          <a:prstGeom prst="line">
            <a:avLst/>
          </a:prstGeom>
          <a:noFill/>
          <a:ln w="22955">
            <a:solidFill>
              <a:srgbClr val="616161"/>
            </a:solidFill>
            <a:prstDash val="solid"/>
            <a:tailEnd type="triangle"/>
          </a:ln>
        </p:spPr>
        <p:txBody>
          <a:bodyPr/>
          <a:p/>
        </p:txBody>
      </p:sp>
      <p:sp>
        <p:nvSpPr>
          <p:cNvPr id="8" name="Shape 6"/>
          <p:cNvSpPr/>
          <p:nvPr/>
        </p:nvSpPr>
        <p:spPr>
          <a:xfrm>
            <a:off x="2816504"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9" name="Text 7"/>
          <p:cNvSpPr/>
          <p:nvPr/>
        </p:nvSpPr>
        <p:spPr>
          <a:xfrm>
            <a:off x="2926690"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2. Discover</a:t>
            </a:r>
            <a:endParaRPr lang="en-GB" sz="1808" dirty="0"/>
          </a:p>
        </p:txBody>
      </p:sp>
      <p:sp>
        <p:nvSpPr>
          <p:cNvPr id="10" name="Text 8"/>
          <p:cNvSpPr/>
          <p:nvPr/>
        </p:nvSpPr>
        <p:spPr>
          <a:xfrm>
            <a:off x="2926690"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Collect</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metadata</a:t>
            </a:r>
            <a:endParaRPr lang="en-GB" sz="1456" dirty="0"/>
          </a:p>
        </p:txBody>
      </p:sp>
      <p:sp>
        <p:nvSpPr>
          <p:cNvPr id="11" name="Shape 9"/>
          <p:cNvSpPr/>
          <p:nvPr/>
        </p:nvSpPr>
        <p:spPr>
          <a:xfrm>
            <a:off x="4744745" y="2849270"/>
            <a:ext cx="247917" cy="0"/>
          </a:xfrm>
          <a:prstGeom prst="line">
            <a:avLst/>
          </a:prstGeom>
          <a:noFill/>
          <a:ln w="22955">
            <a:solidFill>
              <a:srgbClr val="616161"/>
            </a:solidFill>
            <a:prstDash val="solid"/>
            <a:tailEnd type="triangle"/>
          </a:ln>
        </p:spPr>
        <p:txBody>
          <a:bodyPr/>
          <a:p/>
        </p:txBody>
      </p:sp>
      <p:sp>
        <p:nvSpPr>
          <p:cNvPr id="12" name="Shape 10"/>
          <p:cNvSpPr/>
          <p:nvPr/>
        </p:nvSpPr>
        <p:spPr>
          <a:xfrm>
            <a:off x="5056937"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13" name="Text 11"/>
          <p:cNvSpPr/>
          <p:nvPr/>
        </p:nvSpPr>
        <p:spPr>
          <a:xfrm>
            <a:off x="5167122"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3. Map</a:t>
            </a:r>
            <a:endParaRPr lang="en-GB" sz="1808" dirty="0"/>
          </a:p>
        </p:txBody>
      </p:sp>
      <p:sp>
        <p:nvSpPr>
          <p:cNvPr id="14" name="Text 12"/>
          <p:cNvSpPr/>
          <p:nvPr/>
        </p:nvSpPr>
        <p:spPr>
          <a:xfrm>
            <a:off x="5167122"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Build</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AtlasData</a:t>
            </a:r>
            <a:endParaRPr lang="en-GB" sz="1456" dirty="0"/>
          </a:p>
        </p:txBody>
      </p:sp>
      <p:sp>
        <p:nvSpPr>
          <p:cNvPr id="15" name="Shape 13"/>
          <p:cNvSpPr/>
          <p:nvPr/>
        </p:nvSpPr>
        <p:spPr>
          <a:xfrm>
            <a:off x="6985178" y="2849270"/>
            <a:ext cx="247917" cy="0"/>
          </a:xfrm>
          <a:prstGeom prst="line">
            <a:avLst/>
          </a:prstGeom>
          <a:noFill/>
          <a:ln w="22955">
            <a:solidFill>
              <a:srgbClr val="616161"/>
            </a:solidFill>
            <a:prstDash val="solid"/>
            <a:tailEnd type="triangle"/>
          </a:ln>
        </p:spPr>
        <p:txBody>
          <a:bodyPr/>
          <a:p/>
        </p:txBody>
      </p:sp>
      <p:sp>
        <p:nvSpPr>
          <p:cNvPr id="16" name="Shape 14"/>
          <p:cNvSpPr/>
          <p:nvPr/>
        </p:nvSpPr>
        <p:spPr>
          <a:xfrm>
            <a:off x="7297369"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17" name="Text 15"/>
          <p:cNvSpPr/>
          <p:nvPr/>
        </p:nvSpPr>
        <p:spPr>
          <a:xfrm>
            <a:off x="7407554"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4. Persist</a:t>
            </a:r>
            <a:endParaRPr lang="en-GB" sz="1808" dirty="0"/>
          </a:p>
        </p:txBody>
      </p:sp>
      <p:sp>
        <p:nvSpPr>
          <p:cNvPr id="18" name="Text 16"/>
          <p:cNvSpPr/>
          <p:nvPr/>
        </p:nvSpPr>
        <p:spPr>
          <a:xfrm>
            <a:off x="7407554"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Write and</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read back</a:t>
            </a:r>
            <a:endParaRPr lang="en-GB" sz="1456" dirty="0"/>
          </a:p>
        </p:txBody>
      </p:sp>
      <p:sp>
        <p:nvSpPr>
          <p:cNvPr id="19" name="Shape 17"/>
          <p:cNvSpPr/>
          <p:nvPr/>
        </p:nvSpPr>
        <p:spPr>
          <a:xfrm>
            <a:off x="9225610" y="2849270"/>
            <a:ext cx="247917" cy="0"/>
          </a:xfrm>
          <a:prstGeom prst="line">
            <a:avLst/>
          </a:prstGeom>
          <a:noFill/>
          <a:ln w="22955">
            <a:solidFill>
              <a:srgbClr val="616161"/>
            </a:solidFill>
            <a:prstDash val="solid"/>
            <a:tailEnd type="triangle"/>
          </a:ln>
        </p:spPr>
        <p:txBody>
          <a:bodyPr/>
          <a:p/>
        </p:txBody>
      </p:sp>
      <p:sp>
        <p:nvSpPr>
          <p:cNvPr id="20" name="Shape 18"/>
          <p:cNvSpPr/>
          <p:nvPr/>
        </p:nvSpPr>
        <p:spPr>
          <a:xfrm>
            <a:off x="9537802" y="2206523"/>
            <a:ext cx="1882330" cy="1285494"/>
          </a:xfrm>
          <a:prstGeom prst="roundRect">
            <a:avLst>
              <a:gd name="adj" fmla="val 5714"/>
            </a:avLst>
          </a:prstGeom>
          <a:solidFill>
            <a:srgbClr val="EFF6FC"/>
          </a:solidFill>
          <a:ln w="15240">
            <a:solidFill>
              <a:srgbClr val="0078D4"/>
            </a:solidFill>
            <a:prstDash val="solid"/>
          </a:ln>
        </p:spPr>
        <p:txBody>
          <a:bodyPr/>
          <a:p/>
        </p:txBody>
      </p:sp>
      <p:sp>
        <p:nvSpPr>
          <p:cNvPr id="21" name="Text 19"/>
          <p:cNvSpPr/>
          <p:nvPr/>
        </p:nvSpPr>
        <p:spPr>
          <a:xfrm>
            <a:off x="9647987"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078D4"/>
                </a:solidFill>
                <a:latin typeface="Segoe UI" pitchFamily="34" charset="0"/>
                <a:ea typeface="Segoe UI" pitchFamily="34" charset="-122"/>
                <a:cs typeface="Segoe UI" pitchFamily="34" charset="-120"/>
              </a:rPr>
              <a:t>5. Finalize</a:t>
            </a:r>
            <a:endParaRPr lang="en-GB" sz="1808" dirty="0"/>
          </a:p>
        </p:txBody>
      </p:sp>
      <p:sp>
        <p:nvSpPr>
          <p:cNvPr id="22" name="Text 20"/>
          <p:cNvSpPr/>
          <p:nvPr/>
        </p:nvSpPr>
        <p:spPr>
          <a:xfrm>
            <a:off x="9647987"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Publish the</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manifest</a:t>
            </a:r>
            <a:endParaRPr lang="en-GB" sz="1456" dirty="0"/>
          </a:p>
        </p:txBody>
      </p:sp>
      <p:sp>
        <p:nvSpPr>
          <p:cNvPr id="23" name="Text 21"/>
          <p:cNvSpPr/>
          <p:nvPr/>
        </p:nvSpPr>
        <p:spPr>
          <a:xfrm>
            <a:off x="1586103" y="3941940"/>
            <a:ext cx="8998458" cy="266281"/>
          </a:xfrm>
          <a:prstGeom prst="rect">
            <a:avLst/>
          </a:prstGeom>
          <a:noFill/>
          <a:ln/>
        </p:spPr>
        <p:txBody>
          <a:bodyPr wrap="square" lIns="0" tIns="0" rIns="0" bIns="0" rtlCol="0" anchor="t"/>
          <a:lstStyle/>
          <a:p>
            <a:pPr algn="ctr" indent="0" marL="0">
              <a:buNone/>
            </a:pPr>
            <a:r>
              <a:rPr lang="en-GB" altLang="en-US" sz="1506" b="1" dirty="0">
                <a:solidFill>
                  <a:srgbClr val="0C695A"/>
                </a:solidFill>
                <a:latin typeface="Segoe UI" pitchFamily="34" charset="0"/>
                <a:ea typeface="Segoe UI" pitchFamily="34" charset="-122"/>
                <a:cs typeface="Segoe UI" pitchFamily="34" charset="-120"/>
              </a:rPr>
              <a:t>The previous snapshot stays visible until the Workspace manifest is created.</a:t>
            </a:r>
            <a:endParaRPr lang="en-GB" sz="1506" dirty="0"/>
          </a:p>
        </p:txBody>
      </p:sp>
      <p:sp>
        <p:nvSpPr>
          <p:cNvPr id="24" name="Text 22"/>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eraser/01-sync-process.eraser.txt · src/atlas/synchronization-progress.ts</a:t>
            </a:r>
            <a:endParaRPr lang="en-GB" sz="1050" dirty="0"/>
          </a:p>
        </p:txBody>
      </p:sp>
      <p:sp>
        <p:nvSpPr>
          <p:cNvPr id="25" name="Text 23"/>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4</a:t>
            </a:r>
            <a:endParaRPr lang="en-GB"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RESUMABLE REFRESH</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UDF slices process large workspaces without restarting the scan.</a:t>
            </a:r>
            <a:endParaRPr lang="en-GB" sz="2750" dirty="0"/>
          </a:p>
        </p:txBody>
      </p:sp>
      <p:sp>
        <p:nvSpPr>
          <p:cNvPr id="4" name="Shape 2"/>
          <p:cNvSpPr/>
          <p:nvPr/>
        </p:nvSpPr>
        <p:spPr>
          <a:xfrm>
            <a:off x="1102309" y="3523183"/>
            <a:ext cx="6242152" cy="0"/>
          </a:xfrm>
          <a:prstGeom prst="line">
            <a:avLst/>
          </a:prstGeom>
          <a:noFill/>
          <a:ln w="23432">
            <a:solidFill>
              <a:srgbClr val="E0E0E0"/>
            </a:solidFill>
            <a:prstDash val="solid"/>
          </a:ln>
        </p:spPr>
        <p:txBody>
          <a:bodyPr/>
          <a:p/>
        </p:txBody>
      </p:sp>
      <p:sp>
        <p:nvSpPr>
          <p:cNvPr id="5" name="Shape 3"/>
          <p:cNvSpPr/>
          <p:nvPr/>
        </p:nvSpPr>
        <p:spPr>
          <a:xfrm>
            <a:off x="1036701"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6" name="Text 4"/>
          <p:cNvSpPr/>
          <p:nvPr/>
        </p:nvSpPr>
        <p:spPr>
          <a:xfrm>
            <a:off x="886739"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T0</a:t>
            </a:r>
            <a:endParaRPr lang="en-GB" sz="1251" dirty="0"/>
          </a:p>
        </p:txBody>
      </p:sp>
      <p:sp>
        <p:nvSpPr>
          <p:cNvPr id="7" name="Shape 5"/>
          <p:cNvSpPr/>
          <p:nvPr/>
        </p:nvSpPr>
        <p:spPr>
          <a:xfrm>
            <a:off x="455600" y="2126666"/>
            <a:ext cx="1405890" cy="824789"/>
          </a:xfrm>
          <a:prstGeom prst="roundRect">
            <a:avLst>
              <a:gd name="adj" fmla="val 9091"/>
            </a:avLst>
          </a:prstGeom>
          <a:solidFill>
            <a:srgbClr val="E3F7EF"/>
          </a:solidFill>
          <a:ln w="15240">
            <a:solidFill>
              <a:srgbClr val="117865"/>
            </a:solidFill>
            <a:prstDash val="solid"/>
          </a:ln>
        </p:spPr>
        <p:txBody>
          <a:bodyPr/>
          <a:p/>
        </p:txBody>
      </p:sp>
      <p:sp>
        <p:nvSpPr>
          <p:cNvPr id="8" name="Text 6"/>
          <p:cNvSpPr/>
          <p:nvPr/>
        </p:nvSpPr>
        <p:spPr>
          <a:xfrm>
            <a:off x="568071" y="226725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sync_all</a:t>
            </a:r>
            <a:endParaRPr lang="en-GB" sz="1486" dirty="0"/>
          </a:p>
        </p:txBody>
      </p:sp>
      <p:sp>
        <p:nvSpPr>
          <p:cNvPr id="9" name="Text 7"/>
          <p:cNvSpPr/>
          <p:nvPr/>
        </p:nvSpPr>
        <p:spPr>
          <a:xfrm>
            <a:off x="568071" y="256717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Base workspace call</a:t>
            </a:r>
            <a:endParaRPr lang="en-GB" sz="1107" dirty="0"/>
          </a:p>
        </p:txBody>
      </p:sp>
      <p:sp>
        <p:nvSpPr>
          <p:cNvPr id="10" name="Shape 8"/>
          <p:cNvSpPr/>
          <p:nvPr/>
        </p:nvSpPr>
        <p:spPr>
          <a:xfrm>
            <a:off x="1158545" y="2970200"/>
            <a:ext cx="0" cy="403022"/>
          </a:xfrm>
          <a:prstGeom prst="line">
            <a:avLst/>
          </a:prstGeom>
          <a:noFill/>
          <a:ln w="23432">
            <a:solidFill>
              <a:srgbClr val="117865"/>
            </a:solidFill>
            <a:prstDash val="solid"/>
            <a:tailEnd type="triangle"/>
          </a:ln>
        </p:spPr>
        <p:txBody>
          <a:bodyPr/>
          <a:p/>
        </p:txBody>
      </p:sp>
      <p:sp>
        <p:nvSpPr>
          <p:cNvPr id="11" name="Shape 9"/>
          <p:cNvSpPr/>
          <p:nvPr/>
        </p:nvSpPr>
        <p:spPr>
          <a:xfrm>
            <a:off x="2564435"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12" name="Text 10"/>
          <p:cNvSpPr/>
          <p:nvPr/>
        </p:nvSpPr>
        <p:spPr>
          <a:xfrm>
            <a:off x="2414473"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T1</a:t>
            </a:r>
            <a:endParaRPr lang="en-GB" sz="1251" dirty="0"/>
          </a:p>
        </p:txBody>
      </p:sp>
      <p:sp>
        <p:nvSpPr>
          <p:cNvPr id="13" name="Shape 11"/>
          <p:cNvSpPr/>
          <p:nvPr/>
        </p:nvSpPr>
        <p:spPr>
          <a:xfrm>
            <a:off x="1983334" y="4216756"/>
            <a:ext cx="1405890" cy="824789"/>
          </a:xfrm>
          <a:prstGeom prst="roundRect">
            <a:avLst>
              <a:gd name="adj" fmla="val 9091"/>
            </a:avLst>
          </a:prstGeom>
          <a:solidFill>
            <a:srgbClr val="E3F7EF"/>
          </a:solidFill>
          <a:ln w="15240">
            <a:solidFill>
              <a:srgbClr val="117865"/>
            </a:solidFill>
            <a:prstDash val="solid"/>
          </a:ln>
        </p:spPr>
        <p:txBody>
          <a:bodyPr/>
          <a:p/>
        </p:txBody>
      </p:sp>
      <p:sp>
        <p:nvSpPr>
          <p:cNvPr id="14" name="Text 12"/>
          <p:cNvSpPr/>
          <p:nvPr/>
        </p:nvSpPr>
        <p:spPr>
          <a:xfrm>
            <a:off x="2095805" y="435734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Plan</a:t>
            </a:r>
            <a:endParaRPr lang="en-GB" sz="1486" dirty="0"/>
          </a:p>
        </p:txBody>
      </p:sp>
      <p:sp>
        <p:nvSpPr>
          <p:cNvPr id="15" name="Text 13"/>
          <p:cNvSpPr/>
          <p:nvPr/>
        </p:nvSpPr>
        <p:spPr>
          <a:xfrm>
            <a:off x="2095805" y="465726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Item IDs grouped by type</a:t>
            </a:r>
            <a:endParaRPr lang="en-GB" sz="1107" dirty="0"/>
          </a:p>
        </p:txBody>
      </p:sp>
      <p:sp>
        <p:nvSpPr>
          <p:cNvPr id="16" name="Shape 14"/>
          <p:cNvSpPr/>
          <p:nvPr/>
        </p:nvSpPr>
        <p:spPr>
          <a:xfrm>
            <a:off x="2686279" y="3654400"/>
            <a:ext cx="0" cy="524866"/>
          </a:xfrm>
          <a:prstGeom prst="line">
            <a:avLst/>
          </a:prstGeom>
          <a:noFill/>
          <a:ln w="23432">
            <a:solidFill>
              <a:srgbClr val="117865"/>
            </a:solidFill>
            <a:prstDash val="solid"/>
            <a:tailEnd type="triangle"/>
          </a:ln>
        </p:spPr>
        <p:txBody>
          <a:bodyPr/>
          <a:p/>
        </p:txBody>
      </p:sp>
      <p:sp>
        <p:nvSpPr>
          <p:cNvPr id="17" name="Shape 15"/>
          <p:cNvSpPr/>
          <p:nvPr/>
        </p:nvSpPr>
        <p:spPr>
          <a:xfrm>
            <a:off x="4092169"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18" name="Text 16"/>
          <p:cNvSpPr/>
          <p:nvPr/>
        </p:nvSpPr>
        <p:spPr>
          <a:xfrm>
            <a:off x="3942207"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T2</a:t>
            </a:r>
            <a:endParaRPr lang="en-GB" sz="1251" dirty="0"/>
          </a:p>
        </p:txBody>
      </p:sp>
      <p:sp>
        <p:nvSpPr>
          <p:cNvPr id="19" name="Shape 17"/>
          <p:cNvSpPr/>
          <p:nvPr/>
        </p:nvSpPr>
        <p:spPr>
          <a:xfrm>
            <a:off x="3511067" y="2126666"/>
            <a:ext cx="1405890" cy="824789"/>
          </a:xfrm>
          <a:prstGeom prst="roundRect">
            <a:avLst>
              <a:gd name="adj" fmla="val 9091"/>
            </a:avLst>
          </a:prstGeom>
          <a:solidFill>
            <a:srgbClr val="E3F7EF"/>
          </a:solidFill>
          <a:ln w="15240">
            <a:solidFill>
              <a:srgbClr val="117865"/>
            </a:solidFill>
            <a:prstDash val="solid"/>
          </a:ln>
        </p:spPr>
        <p:txBody>
          <a:bodyPr/>
          <a:p/>
        </p:txBody>
      </p:sp>
      <p:sp>
        <p:nvSpPr>
          <p:cNvPr id="20" name="Text 18"/>
          <p:cNvSpPr/>
          <p:nvPr/>
        </p:nvSpPr>
        <p:spPr>
          <a:xfrm>
            <a:off x="3623539" y="226725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Batch 1</a:t>
            </a:r>
            <a:endParaRPr lang="en-GB" sz="1486" dirty="0"/>
          </a:p>
        </p:txBody>
      </p:sp>
      <p:sp>
        <p:nvSpPr>
          <p:cNvPr id="21" name="Text 19"/>
          <p:cNvSpPr/>
          <p:nvPr/>
        </p:nvSpPr>
        <p:spPr>
          <a:xfrm>
            <a:off x="3623539" y="256717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sync_items · up to 8 IDs</a:t>
            </a:r>
            <a:endParaRPr lang="en-GB" sz="1107" dirty="0"/>
          </a:p>
        </p:txBody>
      </p:sp>
      <p:sp>
        <p:nvSpPr>
          <p:cNvPr id="22" name="Shape 20"/>
          <p:cNvSpPr/>
          <p:nvPr/>
        </p:nvSpPr>
        <p:spPr>
          <a:xfrm>
            <a:off x="4214012" y="2970200"/>
            <a:ext cx="0" cy="403022"/>
          </a:xfrm>
          <a:prstGeom prst="line">
            <a:avLst/>
          </a:prstGeom>
          <a:noFill/>
          <a:ln w="23432">
            <a:solidFill>
              <a:srgbClr val="117865"/>
            </a:solidFill>
            <a:prstDash val="solid"/>
            <a:tailEnd type="triangle"/>
          </a:ln>
        </p:spPr>
        <p:txBody>
          <a:bodyPr/>
          <a:p/>
        </p:txBody>
      </p:sp>
      <p:sp>
        <p:nvSpPr>
          <p:cNvPr id="23" name="Shape 21"/>
          <p:cNvSpPr/>
          <p:nvPr/>
        </p:nvSpPr>
        <p:spPr>
          <a:xfrm>
            <a:off x="5619902"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24" name="Text 22"/>
          <p:cNvSpPr/>
          <p:nvPr/>
        </p:nvSpPr>
        <p:spPr>
          <a:xfrm>
            <a:off x="5469941"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T3</a:t>
            </a:r>
            <a:endParaRPr lang="en-GB" sz="1251" dirty="0"/>
          </a:p>
        </p:txBody>
      </p:sp>
      <p:sp>
        <p:nvSpPr>
          <p:cNvPr id="25" name="Shape 23"/>
          <p:cNvSpPr/>
          <p:nvPr/>
        </p:nvSpPr>
        <p:spPr>
          <a:xfrm>
            <a:off x="5038801" y="4216756"/>
            <a:ext cx="1405890" cy="824789"/>
          </a:xfrm>
          <a:prstGeom prst="roundRect">
            <a:avLst>
              <a:gd name="adj" fmla="val 9091"/>
            </a:avLst>
          </a:prstGeom>
          <a:solidFill>
            <a:srgbClr val="E3F7EF"/>
          </a:solidFill>
          <a:ln w="15240">
            <a:solidFill>
              <a:srgbClr val="117865"/>
            </a:solidFill>
            <a:prstDash val="solid"/>
          </a:ln>
        </p:spPr>
        <p:txBody>
          <a:bodyPr/>
          <a:p/>
        </p:txBody>
      </p:sp>
      <p:sp>
        <p:nvSpPr>
          <p:cNvPr id="26" name="Text 24"/>
          <p:cNvSpPr/>
          <p:nvPr/>
        </p:nvSpPr>
        <p:spPr>
          <a:xfrm>
            <a:off x="5151272" y="435734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Continue</a:t>
            </a:r>
            <a:endParaRPr lang="en-GB" sz="1486" dirty="0"/>
          </a:p>
        </p:txBody>
      </p:sp>
      <p:sp>
        <p:nvSpPr>
          <p:cNvPr id="27" name="Text 25"/>
          <p:cNvSpPr/>
          <p:nvPr/>
        </p:nvSpPr>
        <p:spPr>
          <a:xfrm>
            <a:off x="5151272" y="465726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Next slice or split</a:t>
            </a:r>
            <a:endParaRPr lang="en-GB" sz="1107" dirty="0"/>
          </a:p>
        </p:txBody>
      </p:sp>
      <p:sp>
        <p:nvSpPr>
          <p:cNvPr id="28" name="Shape 26"/>
          <p:cNvSpPr/>
          <p:nvPr/>
        </p:nvSpPr>
        <p:spPr>
          <a:xfrm>
            <a:off x="5741746" y="3654400"/>
            <a:ext cx="0" cy="524866"/>
          </a:xfrm>
          <a:prstGeom prst="line">
            <a:avLst/>
          </a:prstGeom>
          <a:noFill/>
          <a:ln w="23432">
            <a:solidFill>
              <a:srgbClr val="117865"/>
            </a:solidFill>
            <a:prstDash val="solid"/>
            <a:tailEnd type="triangle"/>
          </a:ln>
        </p:spPr>
        <p:txBody>
          <a:bodyPr/>
          <a:p/>
        </p:txBody>
      </p:sp>
      <p:sp>
        <p:nvSpPr>
          <p:cNvPr id="29" name="Shape 27"/>
          <p:cNvSpPr/>
          <p:nvPr/>
        </p:nvSpPr>
        <p:spPr>
          <a:xfrm>
            <a:off x="7147636" y="3401339"/>
            <a:ext cx="243688" cy="243688"/>
          </a:xfrm>
          <a:prstGeom prst="roundRect">
            <a:avLst>
              <a:gd name="adj" fmla="val 50000"/>
            </a:avLst>
          </a:prstGeom>
          <a:solidFill>
            <a:srgbClr val="0078D4"/>
          </a:solidFill>
          <a:ln w="12700">
            <a:solidFill>
              <a:srgbClr val="0078D4">
                <a:alpha val="0"/>
              </a:srgbClr>
            </a:solidFill>
            <a:prstDash val="solid"/>
          </a:ln>
        </p:spPr>
        <p:txBody>
          <a:bodyPr/>
          <a:p/>
        </p:txBody>
      </p:sp>
      <p:sp>
        <p:nvSpPr>
          <p:cNvPr id="30" name="Text 28"/>
          <p:cNvSpPr/>
          <p:nvPr/>
        </p:nvSpPr>
        <p:spPr>
          <a:xfrm>
            <a:off x="6997675"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T4</a:t>
            </a:r>
            <a:endParaRPr lang="en-GB" sz="1251" dirty="0"/>
          </a:p>
        </p:txBody>
      </p:sp>
      <p:sp>
        <p:nvSpPr>
          <p:cNvPr id="31" name="Shape 29"/>
          <p:cNvSpPr/>
          <p:nvPr/>
        </p:nvSpPr>
        <p:spPr>
          <a:xfrm>
            <a:off x="6566535" y="2126666"/>
            <a:ext cx="1405890" cy="824789"/>
          </a:xfrm>
          <a:prstGeom prst="roundRect">
            <a:avLst>
              <a:gd name="adj" fmla="val 9091"/>
            </a:avLst>
          </a:prstGeom>
          <a:solidFill>
            <a:srgbClr val="EFF6FC"/>
          </a:solidFill>
          <a:ln w="15240">
            <a:solidFill>
              <a:srgbClr val="0078D4"/>
            </a:solidFill>
            <a:prstDash val="solid"/>
          </a:ln>
        </p:spPr>
        <p:txBody>
          <a:bodyPr/>
          <a:p/>
        </p:txBody>
      </p:sp>
      <p:sp>
        <p:nvSpPr>
          <p:cNvPr id="32" name="Text 30"/>
          <p:cNvSpPr/>
          <p:nvPr/>
        </p:nvSpPr>
        <p:spPr>
          <a:xfrm>
            <a:off x="6679006" y="2267255"/>
            <a:ext cx="1180948" cy="243688"/>
          </a:xfrm>
          <a:prstGeom prst="rect">
            <a:avLst/>
          </a:prstGeom>
          <a:noFill/>
          <a:ln/>
        </p:spPr>
        <p:txBody>
          <a:bodyPr wrap="square" lIns="0" tIns="0" rIns="0" bIns="0" rtlCol="0" anchor="t"/>
          <a:lstStyle/>
          <a:p>
            <a:pPr algn="ctr" indent="0" marL="0">
              <a:buNone/>
            </a:pPr>
            <a:r>
              <a:rPr lang="en-GB" altLang="en-US" sz="1486" b="1" dirty="0">
                <a:solidFill>
                  <a:srgbClr val="0078D4"/>
                </a:solidFill>
                <a:latin typeface="Segoe UI" pitchFamily="34" charset="0"/>
                <a:ea typeface="Segoe UI" pitchFamily="34" charset="-122"/>
                <a:cs typeface="Segoe UI" pitchFamily="34" charset="-120"/>
              </a:rPr>
              <a:t>Complete</a:t>
            </a:r>
            <a:endParaRPr lang="en-GB" sz="1486" dirty="0"/>
          </a:p>
        </p:txBody>
      </p:sp>
      <p:sp>
        <p:nvSpPr>
          <p:cNvPr id="33" name="Text 31"/>
          <p:cNvSpPr/>
          <p:nvPr/>
        </p:nvSpPr>
        <p:spPr>
          <a:xfrm>
            <a:off x="6679006" y="256717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All IDs covered → Map</a:t>
            </a:r>
            <a:endParaRPr lang="en-GB" sz="1107" dirty="0"/>
          </a:p>
        </p:txBody>
      </p:sp>
      <p:sp>
        <p:nvSpPr>
          <p:cNvPr id="34" name="Shape 32"/>
          <p:cNvSpPr/>
          <p:nvPr/>
        </p:nvSpPr>
        <p:spPr>
          <a:xfrm>
            <a:off x="7269480" y="2970200"/>
            <a:ext cx="0" cy="403022"/>
          </a:xfrm>
          <a:prstGeom prst="line">
            <a:avLst/>
          </a:prstGeom>
          <a:noFill/>
          <a:ln w="23432">
            <a:solidFill>
              <a:srgbClr val="0078D4"/>
            </a:solidFill>
            <a:prstDash val="solid"/>
            <a:tailEnd type="triangle"/>
          </a:ln>
        </p:spPr>
        <p:txBody>
          <a:bodyPr/>
          <a:p/>
        </p:txBody>
      </p:sp>
      <p:sp>
        <p:nvSpPr>
          <p:cNvPr id="35" name="Text 33"/>
          <p:cNvSpPr/>
          <p:nvPr/>
        </p:nvSpPr>
        <p:spPr>
          <a:xfrm>
            <a:off x="1083564" y="5060290"/>
            <a:ext cx="6467094" cy="487375"/>
          </a:xfrm>
          <a:prstGeom prst="rect">
            <a:avLst/>
          </a:prstGeom>
          <a:noFill/>
          <a:ln/>
        </p:spPr>
        <p:txBody>
          <a:bodyPr wrap="square" lIns="0" tIns="0" rIns="0" bIns="0" rtlCol="0" anchor="t"/>
          <a:lstStyle/>
          <a:p>
            <a:pPr algn="ctr" indent="0" marL="0">
              <a:buNone/>
            </a:pPr>
            <a:r>
              <a:rPr lang="en-GB" altLang="en-US" sz="1271" b="1" dirty="0">
                <a:solidFill>
                  <a:srgbClr val="0C695A"/>
                </a:solidFill>
                <a:latin typeface="Segoe UI" pitchFamily="34" charset="0"/>
                <a:ea typeface="Segoe UI" pitchFamily="34" charset="-122"/>
                <a:cs typeface="Segoe UI" pitchFamily="34" charset="-120"/>
              </a:rPr>
              <a:t>Each UDF invocation gets a fresh platform window:</a:t>
            </a:r>
            <a:endParaRPr lang="en-GB" sz="1271" dirty="0"/>
          </a:p>
          <a:p>
            <a:pPr algn="ctr" indent="0" marL="0">
              <a:buNone/>
            </a:pPr>
            <a:r>
              <a:rPr lang="en-GB" altLang="en-US" sz="1271" b="1" dirty="0">
                <a:solidFill>
                  <a:srgbClr val="0C695A"/>
                </a:solidFill>
                <a:latin typeface="Segoe UI" pitchFamily="34" charset="0"/>
                <a:ea typeface="Segoe UI" pitchFamily="34" charset="-122"/>
                <a:cs typeface="Segoe UI" pitchFamily="34" charset="-120"/>
              </a:rPr>
              <a:t>200 s maximum, 180 s Atlas work budget.</a:t>
            </a:r>
            <a:endParaRPr lang="en-GB" sz="1271" dirty="0"/>
          </a:p>
        </p:txBody>
      </p:sp>
      <p:sp>
        <p:nvSpPr>
          <p:cNvPr id="36" name="Text 34"/>
          <p:cNvSpPr/>
          <p:nvPr/>
        </p:nvSpPr>
        <p:spPr>
          <a:xfrm>
            <a:off x="8266176" y="1673352"/>
            <a:ext cx="3264408" cy="3474720"/>
          </a:xfrm>
          <a:prstGeom prst="rect">
            <a:avLst/>
          </a:prstGeom>
          <a:noFill/>
          <a:ln/>
        </p:spPr>
        <p:txBody>
          <a:bodyPr wrap="square" lIns="254" tIns="254" rIns="254" bIns="254" rtlCol="0" anchor="ctr"/>
          <a:lstStyle/>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A UDF call has 200 seconds; Atlas uses 180 seconds for work.</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sync_all returns the base, then sync_items enriches batches of 8 IDs by type.</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Completed results stay in memory; only remaining IDs return to the queue.</a:t>
            </a:r>
            <a:endParaRPr lang="en-GB" sz="1600" dirty="0"/>
          </a:p>
        </p:txBody>
      </p:sp>
      <p:sp>
        <p:nvSpPr>
          <p:cNvPr id="37" name="Text 35"/>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eraser/02-resumable-refresh.eraser.txt · src/atlas/live-sync.ts</a:t>
            </a:r>
            <a:endParaRPr lang="en-GB" sz="1050" dirty="0"/>
          </a:p>
        </p:txBody>
      </p:sp>
      <p:sp>
        <p:nvSpPr>
          <p:cNvPr id="38" name="Text 36"/>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5</a:t>
            </a:r>
            <a:endParaRPr lang="en-GB"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SNAPSHOTS AND DATA MODEL</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The Workspace manifest publishes only a complete snapshot that Atlas can read back.</a:t>
            </a:r>
            <a:endParaRPr lang="en-GB" sz="2750" dirty="0"/>
          </a:p>
        </p:txBody>
      </p:sp>
      <p:sp>
        <p:nvSpPr>
          <p:cNvPr id="4" name="Shape 2"/>
          <p:cNvSpPr/>
          <p:nvPr/>
        </p:nvSpPr>
        <p:spPr>
          <a:xfrm>
            <a:off x="737807" y="2430772"/>
            <a:ext cx="1973047" cy="1456296"/>
          </a:xfrm>
          <a:prstGeom prst="roundRect">
            <a:avLst>
              <a:gd name="adj" fmla="val 5161"/>
            </a:avLst>
          </a:prstGeom>
          <a:solidFill>
            <a:srgbClr val="E3F7EF"/>
          </a:solidFill>
          <a:ln w="15240">
            <a:solidFill>
              <a:srgbClr val="117865"/>
            </a:solidFill>
            <a:prstDash val="solid"/>
          </a:ln>
        </p:spPr>
        <p:txBody>
          <a:bodyPr/>
          <a:p/>
        </p:txBody>
      </p:sp>
      <p:sp>
        <p:nvSpPr>
          <p:cNvPr id="5" name="Text 3"/>
          <p:cNvSpPr/>
          <p:nvPr/>
        </p:nvSpPr>
        <p:spPr>
          <a:xfrm>
            <a:off x="859947" y="2609286"/>
            <a:ext cx="319446" cy="253677"/>
          </a:xfrm>
          <a:prstGeom prst="rect">
            <a:avLst/>
          </a:prstGeom>
          <a:noFill/>
          <a:ln/>
        </p:spPr>
        <p:txBody>
          <a:bodyPr wrap="square" lIns="0" tIns="0" rIns="0" bIns="0" rtlCol="0" anchor="t"/>
          <a:lstStyle/>
          <a:p>
            <a:pPr algn="ctr" indent="0" marL="0">
              <a:buNone/>
            </a:pPr>
            <a:r>
              <a:rPr lang="en-GB" altLang="en-US" sz="1541" b="1" dirty="0">
                <a:solidFill>
                  <a:srgbClr val="0C695A"/>
                </a:solidFill>
                <a:latin typeface="Segoe UI" pitchFamily="34" charset="0"/>
                <a:ea typeface="Segoe UI" pitchFamily="34" charset="-122"/>
                <a:cs typeface="Segoe UI" pitchFamily="34" charset="-120"/>
              </a:rPr>
              <a:t>1</a:t>
            </a:r>
            <a:endParaRPr lang="en-GB" sz="1541" dirty="0"/>
          </a:p>
        </p:txBody>
      </p:sp>
      <p:sp>
        <p:nvSpPr>
          <p:cNvPr id="6" name="Text 4"/>
          <p:cNvSpPr/>
          <p:nvPr/>
        </p:nvSpPr>
        <p:spPr>
          <a:xfrm>
            <a:off x="1094834" y="2524727"/>
            <a:ext cx="1503274" cy="704660"/>
          </a:xfrm>
          <a:prstGeom prst="rect">
            <a:avLst/>
          </a:prstGeom>
          <a:noFill/>
          <a:ln/>
        </p:spPr>
        <p:txBody>
          <a:bodyPr wrap="square" lIns="0" tIns="0" rIns="0" bIns="0" rtlCol="0" anchor="t"/>
          <a:lstStyle/>
          <a:p>
            <a:pPr algn="ctr" indent="0" marL="0">
              <a:buNone/>
            </a:pPr>
            <a:r>
              <a:rPr lang="en-GB" altLang="en-US" sz="1469" b="1" dirty="0">
                <a:solidFill>
                  <a:srgbClr val="242424"/>
                </a:solidFill>
                <a:latin typeface="Segoe UI" pitchFamily="34" charset="0"/>
                <a:ea typeface="Segoe UI" pitchFamily="34" charset="-122"/>
                <a:cs typeface="Segoe UI" pitchFamily="34" charset="-120"/>
              </a:rPr>
              <a:t>Write candidate rows</a:t>
            </a:r>
            <a:endParaRPr lang="en-GB" sz="1469" dirty="0"/>
          </a:p>
        </p:txBody>
      </p:sp>
      <p:sp>
        <p:nvSpPr>
          <p:cNvPr id="7" name="Text 5"/>
          <p:cNvSpPr/>
          <p:nvPr/>
        </p:nvSpPr>
        <p:spPr>
          <a:xfrm>
            <a:off x="906925" y="3257573"/>
            <a:ext cx="1634810" cy="516750"/>
          </a:xfrm>
          <a:prstGeom prst="rect">
            <a:avLst/>
          </a:prstGeom>
          <a:noFill/>
          <a:ln/>
        </p:spPr>
        <p:txBody>
          <a:bodyPr wrap="square" lIns="0" tIns="0" rIns="0" bIns="0" rtlCol="0" anchor="t"/>
          <a:lstStyle/>
          <a:p>
            <a:pPr algn="ctr" indent="0" marL="0">
              <a:buNone/>
            </a:pPr>
            <a:r>
              <a:rPr lang="en-GB" altLang="en-US" sz="1182" dirty="0">
                <a:solidFill>
                  <a:srgbClr val="616161"/>
                </a:solidFill>
                <a:latin typeface="Segoe UI" pitchFamily="34" charset="0"/>
                <a:ea typeface="Segoe UI" pitchFamily="34" charset="-122"/>
                <a:cs typeface="Segoe UI" pitchFamily="34" charset="-120"/>
              </a:rPr>
              <a:t>New snapshotId on all synchronized entities</a:t>
            </a:r>
            <a:endParaRPr lang="en-GB" sz="1182" dirty="0"/>
          </a:p>
        </p:txBody>
      </p:sp>
      <p:sp>
        <p:nvSpPr>
          <p:cNvPr id="8" name="Shape 6"/>
          <p:cNvSpPr/>
          <p:nvPr/>
        </p:nvSpPr>
        <p:spPr>
          <a:xfrm>
            <a:off x="2757830" y="3154223"/>
            <a:ext cx="366423" cy="0"/>
          </a:xfrm>
          <a:prstGeom prst="line">
            <a:avLst/>
          </a:prstGeom>
          <a:noFill/>
          <a:ln w="23489">
            <a:solidFill>
              <a:srgbClr val="117865"/>
            </a:solidFill>
            <a:prstDash val="solid"/>
            <a:tailEnd type="triangle"/>
          </a:ln>
        </p:spPr>
        <p:txBody>
          <a:bodyPr/>
          <a:p/>
        </p:txBody>
      </p:sp>
      <p:sp>
        <p:nvSpPr>
          <p:cNvPr id="9" name="Shape 7"/>
          <p:cNvSpPr/>
          <p:nvPr/>
        </p:nvSpPr>
        <p:spPr>
          <a:xfrm>
            <a:off x="3199417" y="2430772"/>
            <a:ext cx="1973047" cy="1456296"/>
          </a:xfrm>
          <a:prstGeom prst="roundRect">
            <a:avLst>
              <a:gd name="adj" fmla="val 5161"/>
            </a:avLst>
          </a:prstGeom>
          <a:solidFill>
            <a:srgbClr val="E3F7EF"/>
          </a:solidFill>
          <a:ln w="15240">
            <a:solidFill>
              <a:srgbClr val="117865"/>
            </a:solidFill>
            <a:prstDash val="solid"/>
          </a:ln>
        </p:spPr>
        <p:txBody>
          <a:bodyPr/>
          <a:p/>
        </p:txBody>
      </p:sp>
      <p:sp>
        <p:nvSpPr>
          <p:cNvPr id="10" name="Text 8"/>
          <p:cNvSpPr/>
          <p:nvPr/>
        </p:nvSpPr>
        <p:spPr>
          <a:xfrm>
            <a:off x="3321558" y="2609286"/>
            <a:ext cx="319446" cy="253677"/>
          </a:xfrm>
          <a:prstGeom prst="rect">
            <a:avLst/>
          </a:prstGeom>
          <a:noFill/>
          <a:ln/>
        </p:spPr>
        <p:txBody>
          <a:bodyPr wrap="square" lIns="0" tIns="0" rIns="0" bIns="0" rtlCol="0" anchor="t"/>
          <a:lstStyle/>
          <a:p>
            <a:pPr algn="ctr" indent="0" marL="0">
              <a:buNone/>
            </a:pPr>
            <a:r>
              <a:rPr lang="en-GB" altLang="en-US" sz="1541" b="1" dirty="0">
                <a:solidFill>
                  <a:srgbClr val="0C695A"/>
                </a:solidFill>
                <a:latin typeface="Segoe UI" pitchFamily="34" charset="0"/>
                <a:ea typeface="Segoe UI" pitchFamily="34" charset="-122"/>
                <a:cs typeface="Segoe UI" pitchFamily="34" charset="-120"/>
              </a:rPr>
              <a:t>2</a:t>
            </a:r>
            <a:endParaRPr lang="en-GB" sz="1541" dirty="0"/>
          </a:p>
        </p:txBody>
      </p:sp>
      <p:sp>
        <p:nvSpPr>
          <p:cNvPr id="11" name="Text 9"/>
          <p:cNvSpPr/>
          <p:nvPr/>
        </p:nvSpPr>
        <p:spPr>
          <a:xfrm>
            <a:off x="3556445" y="2524727"/>
            <a:ext cx="1503274" cy="704660"/>
          </a:xfrm>
          <a:prstGeom prst="rect">
            <a:avLst/>
          </a:prstGeom>
          <a:noFill/>
          <a:ln/>
        </p:spPr>
        <p:txBody>
          <a:bodyPr wrap="square" lIns="0" tIns="0" rIns="0" bIns="0" rtlCol="0" anchor="t"/>
          <a:lstStyle/>
          <a:p>
            <a:pPr algn="ctr" indent="0" marL="0">
              <a:buNone/>
            </a:pPr>
            <a:r>
              <a:rPr lang="en-GB" altLang="en-US" sz="1469" b="1" dirty="0">
                <a:solidFill>
                  <a:srgbClr val="242424"/>
                </a:solidFill>
                <a:latin typeface="Segoe UI" pitchFamily="34" charset="0"/>
                <a:ea typeface="Segoe UI" pitchFamily="34" charset="-122"/>
                <a:cs typeface="Segoe UI" pitchFamily="34" charset="-120"/>
              </a:rPr>
              <a:t>Read back and validate</a:t>
            </a:r>
            <a:endParaRPr lang="en-GB" sz="1469" dirty="0"/>
          </a:p>
        </p:txBody>
      </p:sp>
      <p:sp>
        <p:nvSpPr>
          <p:cNvPr id="12" name="Text 10"/>
          <p:cNvSpPr/>
          <p:nvPr/>
        </p:nvSpPr>
        <p:spPr>
          <a:xfrm>
            <a:off x="3368535" y="3257573"/>
            <a:ext cx="1634810" cy="516750"/>
          </a:xfrm>
          <a:prstGeom prst="rect">
            <a:avLst/>
          </a:prstGeom>
          <a:noFill/>
          <a:ln/>
        </p:spPr>
        <p:txBody>
          <a:bodyPr wrap="square" lIns="0" tIns="0" rIns="0" bIns="0" rtlCol="0" anchor="t"/>
          <a:lstStyle/>
          <a:p>
            <a:pPr algn="ctr" indent="0" marL="0">
              <a:buNone/>
            </a:pPr>
            <a:r>
              <a:rPr lang="en-GB" altLang="en-US" sz="1182" dirty="0">
                <a:solidFill>
                  <a:srgbClr val="616161"/>
                </a:solidFill>
                <a:latin typeface="Segoe UI" pitchFamily="34" charset="0"/>
                <a:ea typeface="Segoe UI" pitchFamily="34" charset="-122"/>
                <a:cs typeface="Segoe UI" pitchFamily="34" charset="-120"/>
              </a:rPr>
              <a:t>Writer, counts, chunks and reconstructed catalog</a:t>
            </a:r>
            <a:endParaRPr lang="en-GB" sz="1182" dirty="0"/>
          </a:p>
        </p:txBody>
      </p:sp>
      <p:sp>
        <p:nvSpPr>
          <p:cNvPr id="13" name="Shape 11"/>
          <p:cNvSpPr/>
          <p:nvPr/>
        </p:nvSpPr>
        <p:spPr>
          <a:xfrm>
            <a:off x="5219441" y="3154223"/>
            <a:ext cx="366423" cy="0"/>
          </a:xfrm>
          <a:prstGeom prst="line">
            <a:avLst/>
          </a:prstGeom>
          <a:noFill/>
          <a:ln w="23489">
            <a:solidFill>
              <a:srgbClr val="117865"/>
            </a:solidFill>
            <a:prstDash val="solid"/>
            <a:tailEnd type="triangle"/>
          </a:ln>
        </p:spPr>
        <p:txBody>
          <a:bodyPr/>
          <a:p/>
        </p:txBody>
      </p:sp>
      <p:sp>
        <p:nvSpPr>
          <p:cNvPr id="14" name="Shape 12"/>
          <p:cNvSpPr/>
          <p:nvPr/>
        </p:nvSpPr>
        <p:spPr>
          <a:xfrm>
            <a:off x="5661028" y="2430772"/>
            <a:ext cx="1973047" cy="1456296"/>
          </a:xfrm>
          <a:prstGeom prst="roundRect">
            <a:avLst>
              <a:gd name="adj" fmla="val 5161"/>
            </a:avLst>
          </a:prstGeom>
          <a:solidFill>
            <a:srgbClr val="EFF6FC"/>
          </a:solidFill>
          <a:ln w="15240">
            <a:solidFill>
              <a:srgbClr val="0078D4"/>
            </a:solidFill>
            <a:prstDash val="solid"/>
          </a:ln>
        </p:spPr>
        <p:txBody>
          <a:bodyPr/>
          <a:p/>
        </p:txBody>
      </p:sp>
      <p:sp>
        <p:nvSpPr>
          <p:cNvPr id="15" name="Text 13"/>
          <p:cNvSpPr/>
          <p:nvPr/>
        </p:nvSpPr>
        <p:spPr>
          <a:xfrm>
            <a:off x="5783169" y="2609286"/>
            <a:ext cx="319446" cy="253677"/>
          </a:xfrm>
          <a:prstGeom prst="rect">
            <a:avLst/>
          </a:prstGeom>
          <a:noFill/>
          <a:ln/>
        </p:spPr>
        <p:txBody>
          <a:bodyPr wrap="square" lIns="0" tIns="0" rIns="0" bIns="0" rtlCol="0" anchor="t"/>
          <a:lstStyle/>
          <a:p>
            <a:pPr algn="ctr" indent="0" marL="0">
              <a:buNone/>
            </a:pPr>
            <a:r>
              <a:rPr lang="en-GB" altLang="en-US" sz="1541" b="1" dirty="0">
                <a:solidFill>
                  <a:srgbClr val="0078D4"/>
                </a:solidFill>
                <a:latin typeface="Segoe UI" pitchFamily="34" charset="0"/>
                <a:ea typeface="Segoe UI" pitchFamily="34" charset="-122"/>
                <a:cs typeface="Segoe UI" pitchFamily="34" charset="-120"/>
              </a:rPr>
              <a:t>3</a:t>
            </a:r>
            <a:endParaRPr lang="en-GB" sz="1541" dirty="0"/>
          </a:p>
        </p:txBody>
      </p:sp>
      <p:sp>
        <p:nvSpPr>
          <p:cNvPr id="16" name="Text 14"/>
          <p:cNvSpPr/>
          <p:nvPr/>
        </p:nvSpPr>
        <p:spPr>
          <a:xfrm>
            <a:off x="6018055" y="2524727"/>
            <a:ext cx="1503274" cy="704660"/>
          </a:xfrm>
          <a:prstGeom prst="rect">
            <a:avLst/>
          </a:prstGeom>
          <a:noFill/>
          <a:ln/>
        </p:spPr>
        <p:txBody>
          <a:bodyPr wrap="square" lIns="0" tIns="0" rIns="0" bIns="0" rtlCol="0" anchor="t"/>
          <a:lstStyle/>
          <a:p>
            <a:pPr algn="ctr" indent="0" marL="0">
              <a:buNone/>
            </a:pPr>
            <a:r>
              <a:rPr lang="en-GB" altLang="en-US" sz="1469" b="1" dirty="0">
                <a:solidFill>
                  <a:srgbClr val="0078D4"/>
                </a:solidFill>
                <a:latin typeface="Segoe UI" pitchFamily="34" charset="0"/>
                <a:ea typeface="Segoe UI" pitchFamily="34" charset="-122"/>
                <a:cs typeface="Segoe UI" pitchFamily="34" charset="-120"/>
              </a:rPr>
              <a:t>Create Workspace manifest</a:t>
            </a:r>
            <a:endParaRPr lang="en-GB" sz="1469" dirty="0"/>
          </a:p>
        </p:txBody>
      </p:sp>
      <p:sp>
        <p:nvSpPr>
          <p:cNvPr id="17" name="Text 15"/>
          <p:cNvSpPr/>
          <p:nvPr/>
        </p:nvSpPr>
        <p:spPr>
          <a:xfrm>
            <a:off x="5830146" y="3257573"/>
            <a:ext cx="1634810" cy="516750"/>
          </a:xfrm>
          <a:prstGeom prst="rect">
            <a:avLst/>
          </a:prstGeom>
          <a:noFill/>
          <a:ln/>
        </p:spPr>
        <p:txBody>
          <a:bodyPr wrap="square" lIns="0" tIns="0" rIns="0" bIns="0" rtlCol="0" anchor="t"/>
          <a:lstStyle/>
          <a:p>
            <a:pPr algn="ctr" indent="0" marL="0">
              <a:buNone/>
            </a:pPr>
            <a:r>
              <a:rPr lang="en-GB" altLang="en-US" sz="1182" dirty="0">
                <a:solidFill>
                  <a:srgbClr val="616161"/>
                </a:solidFill>
                <a:latin typeface="Segoe UI" pitchFamily="34" charset="0"/>
                <a:ea typeface="Segoe UI" pitchFamily="34" charset="-122"/>
                <a:cs typeface="Segoe UI" pitchFamily="34" charset="-120"/>
              </a:rPr>
              <a:t>The new snapshot becomes visible</a:t>
            </a:r>
            <a:endParaRPr lang="en-GB" sz="1182" dirty="0"/>
          </a:p>
        </p:txBody>
      </p:sp>
      <p:sp>
        <p:nvSpPr>
          <p:cNvPr id="18" name="Shape 16"/>
          <p:cNvSpPr/>
          <p:nvPr/>
        </p:nvSpPr>
        <p:spPr>
          <a:xfrm>
            <a:off x="1348511" y="4394424"/>
            <a:ext cx="5825185" cy="808010"/>
          </a:xfrm>
          <a:prstGeom prst="roundRect">
            <a:avLst>
              <a:gd name="adj" fmla="val 9302"/>
            </a:avLst>
          </a:prstGeom>
          <a:solidFill>
            <a:srgbClr val="FFFFFF"/>
          </a:solidFill>
          <a:ln w="15240">
            <a:solidFill>
              <a:srgbClr val="E0E0E0"/>
            </a:solidFill>
            <a:prstDash val="solid"/>
          </a:ln>
        </p:spPr>
        <p:txBody>
          <a:bodyPr/>
          <a:p/>
        </p:txBody>
      </p:sp>
      <p:sp>
        <p:nvSpPr>
          <p:cNvPr id="19" name="Text 17"/>
          <p:cNvSpPr/>
          <p:nvPr/>
        </p:nvSpPr>
        <p:spPr>
          <a:xfrm>
            <a:off x="1611584" y="4572937"/>
            <a:ext cx="5299039" cy="488564"/>
          </a:xfrm>
          <a:prstGeom prst="rect">
            <a:avLst/>
          </a:prstGeom>
          <a:noFill/>
          <a:ln/>
        </p:spPr>
        <p:txBody>
          <a:bodyPr wrap="square" lIns="0" tIns="0" rIns="0" bIns="0" rtlCol="0" anchor="t"/>
          <a:lstStyle/>
          <a:p>
            <a:pPr algn="ctr" indent="0" marL="0">
              <a:buNone/>
            </a:pPr>
            <a:r>
              <a:rPr lang="en-GB" altLang="en-US" sz="1325" b="1" dirty="0">
                <a:solidFill>
                  <a:srgbClr val="0C695A"/>
                </a:solidFill>
                <a:latin typeface="Segoe UI" pitchFamily="34" charset="0"/>
                <a:ea typeface="Segoe UI" pitchFamily="34" charset="-122"/>
                <a:cs typeface="Segoe UI" pitchFamily="34" charset="-120"/>
              </a:rPr>
              <a:t>Failure before the manifest → candidate rows stay invisible and readers keep the previous snapshot.</a:t>
            </a:r>
            <a:endParaRPr lang="en-GB" sz="1325" dirty="0"/>
          </a:p>
        </p:txBody>
      </p:sp>
      <p:sp>
        <p:nvSpPr>
          <p:cNvPr id="20" name="Text 18"/>
          <p:cNvSpPr/>
          <p:nvPr/>
        </p:nvSpPr>
        <p:spPr>
          <a:xfrm>
            <a:off x="8257032" y="1746504"/>
            <a:ext cx="3291840" cy="3255264"/>
          </a:xfrm>
          <a:prstGeom prst="rect">
            <a:avLst/>
          </a:prstGeom>
          <a:noFill/>
          <a:ln/>
        </p:spPr>
        <p:txBody>
          <a:bodyPr wrap="square" lIns="254" tIns="254" rIns="254" bIns="254" rtlCol="0" anchor="ctr"/>
          <a:lstStyle/>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Child rows use one new snapshotId.</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Read-back uses the same path as application startup.</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Workspace is written last and acts as the visibility switch.</a:t>
            </a:r>
            <a:endParaRPr lang="en-GB" sz="1600" dirty="0"/>
          </a:p>
        </p:txBody>
      </p:sp>
      <p:sp>
        <p:nvSpPr>
          <p:cNvPr id="21" name="Text 19"/>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eraser/03-snapshot-publication.eraser.txt · docs/data-model.md</a:t>
            </a:r>
            <a:endParaRPr lang="en-GB" sz="1050" dirty="0"/>
          </a:p>
        </p:txBody>
      </p:sp>
      <p:sp>
        <p:nvSpPr>
          <p:cNvPr id="22" name="Text 20"/>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6</a:t>
            </a:r>
            <a:endParaRPr lang="en-GB"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RAYFIN ENTITY MODEL</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Rayfin receives fifteen entity classes with four different lifetimes.</a:t>
            </a:r>
            <a:endParaRPr lang="en-GB" sz="2750" dirty="0"/>
          </a:p>
        </p:txBody>
      </p:sp>
      <p:sp>
        <p:nvSpPr>
          <p:cNvPr id="4" name="Text 2"/>
          <p:cNvSpPr/>
          <p:nvPr/>
        </p:nvSpPr>
        <p:spPr>
          <a:xfrm>
            <a:off x="749808" y="1673352"/>
            <a:ext cx="2926080" cy="310896"/>
          </a:xfrm>
          <a:prstGeom prst="rect">
            <a:avLst/>
          </a:prstGeom>
          <a:noFill/>
          <a:ln/>
        </p:spPr>
        <p:txBody>
          <a:bodyPr wrap="square" lIns="0" tIns="0" rIns="0" bIns="0" rtlCol="0" anchor="t"/>
          <a:lstStyle/>
          <a:p>
            <a:pPr algn="l" indent="0" marL="0">
              <a:buNone/>
            </a:pPr>
            <a:r>
              <a:rPr lang="en-GB" altLang="en-US" sz="2100" b="1" dirty="0">
                <a:solidFill>
                  <a:srgbClr val="0C695A"/>
                </a:solidFill>
                <a:latin typeface="Segoe UI" pitchFamily="34" charset="0"/>
                <a:ea typeface="Segoe UI" pitchFamily="34" charset="-122"/>
                <a:cs typeface="Segoe UI" pitchFamily="34" charset="-120"/>
              </a:rPr>
              <a:t>Snapshot catalog</a:t>
            </a:r>
            <a:endParaRPr lang="en-GB" sz="2100" dirty="0"/>
          </a:p>
        </p:txBody>
      </p:sp>
      <p:sp>
        <p:nvSpPr>
          <p:cNvPr id="5" name="Text 3"/>
          <p:cNvSpPr/>
          <p:nvPr/>
        </p:nvSpPr>
        <p:spPr>
          <a:xfrm>
            <a:off x="749808" y="2121408"/>
            <a:ext cx="4846320" cy="621792"/>
          </a:xfrm>
          <a:prstGeom prst="rect">
            <a:avLst/>
          </a:prstGeom>
          <a:noFill/>
          <a:ln/>
        </p:spPr>
        <p:txBody>
          <a:bodyPr wrap="square" lIns="0" tIns="0" rIns="0" bIns="0" rtlCol="0" anchor="t"/>
          <a:lstStyle/>
          <a:p>
            <a:pPr algn="l" indent="0" marL="0">
              <a:buNone/>
            </a:pPr>
            <a:r>
              <a:rPr lang="en-GB" altLang="en-US" sz="1700" dirty="0">
                <a:solidFill>
                  <a:srgbClr val="242424"/>
                </a:solidFill>
                <a:latin typeface="Segoe UI" pitchFamily="34" charset="0"/>
                <a:ea typeface="Segoe UI" pitchFamily="34" charset="-122"/>
                <a:cs typeface="Segoe UI" pitchFamily="34" charset="-120"/>
              </a:rPr>
              <a:t>Workspace, FabricItem, LineageEdge, Principal,</a:t>
            </a:r>
            <a:endParaRPr lang="en-GB" sz="1700" dirty="0"/>
          </a:p>
          <a:p>
            <a:pPr algn="l" indent="0" marL="0">
              <a:buNone/>
            </a:pPr>
            <a:r>
              <a:rPr lang="en-GB" altLang="en-US" sz="1700" dirty="0">
                <a:solidFill>
                  <a:srgbClr val="242424"/>
                </a:solidFill>
                <a:latin typeface="Segoe UI" pitchFamily="34" charset="0"/>
                <a:ea typeface="Segoe UI" pitchFamily="34" charset="-122"/>
                <a:cs typeface="Segoe UI" pitchFamily="34" charset="-120"/>
              </a:rPr>
              <a:t>AccessGrant, JobRun and ConfigEntry</a:t>
            </a:r>
            <a:endParaRPr lang="en-GB" sz="1700" dirty="0"/>
          </a:p>
        </p:txBody>
      </p:sp>
      <p:sp>
        <p:nvSpPr>
          <p:cNvPr id="6" name="Text 4"/>
          <p:cNvSpPr/>
          <p:nvPr/>
        </p:nvSpPr>
        <p:spPr>
          <a:xfrm>
            <a:off x="749808" y="3044952"/>
            <a:ext cx="2926080" cy="310896"/>
          </a:xfrm>
          <a:prstGeom prst="rect">
            <a:avLst/>
          </a:prstGeom>
          <a:noFill/>
          <a:ln/>
        </p:spPr>
        <p:txBody>
          <a:bodyPr wrap="square" lIns="0" tIns="0" rIns="0" bIns="0" rtlCol="0" anchor="t"/>
          <a:lstStyle/>
          <a:p>
            <a:pPr algn="l" indent="0" marL="0">
              <a:buNone/>
            </a:pPr>
            <a:r>
              <a:rPr lang="en-GB" altLang="en-US" sz="2100" b="1" dirty="0">
                <a:solidFill>
                  <a:srgbClr val="0C695A"/>
                </a:solidFill>
                <a:latin typeface="Segoe UI" pitchFamily="34" charset="0"/>
                <a:ea typeface="Segoe UI" pitchFamily="34" charset="-122"/>
                <a:cs typeface="Segoe UI" pitchFamily="34" charset="-120"/>
              </a:rPr>
              <a:t>Sync audit</a:t>
            </a:r>
            <a:endParaRPr lang="en-GB" sz="2100" dirty="0"/>
          </a:p>
        </p:txBody>
      </p:sp>
      <p:sp>
        <p:nvSpPr>
          <p:cNvPr id="7" name="Text 5"/>
          <p:cNvSpPr/>
          <p:nvPr/>
        </p:nvSpPr>
        <p:spPr>
          <a:xfrm>
            <a:off x="749808" y="3493008"/>
            <a:ext cx="4846320" cy="621792"/>
          </a:xfrm>
          <a:prstGeom prst="rect">
            <a:avLst/>
          </a:prstGeom>
          <a:noFill/>
          <a:ln/>
        </p:spPr>
        <p:txBody>
          <a:bodyPr wrap="square" lIns="0" tIns="0" rIns="0" bIns="0" rtlCol="0" anchor="t"/>
          <a:lstStyle/>
          <a:p>
            <a:pPr algn="l" indent="0" marL="0">
              <a:buNone/>
            </a:pPr>
            <a:r>
              <a:rPr lang="en-GB" altLang="en-US" sz="1700" dirty="0">
                <a:solidFill>
                  <a:srgbClr val="242424"/>
                </a:solidFill>
                <a:latin typeface="Segoe UI" pitchFamily="34" charset="0"/>
                <a:ea typeface="Segoe UI" pitchFamily="34" charset="-122"/>
                <a:cs typeface="Segoe UI" pitchFamily="34" charset="-120"/>
              </a:rPr>
              <a:t>SyncRun records running, completed and failed attempts.</a:t>
            </a:r>
            <a:endParaRPr lang="en-GB" sz="1700" dirty="0"/>
          </a:p>
        </p:txBody>
      </p:sp>
      <p:sp>
        <p:nvSpPr>
          <p:cNvPr id="8" name="Text 6"/>
          <p:cNvSpPr/>
          <p:nvPr/>
        </p:nvSpPr>
        <p:spPr>
          <a:xfrm>
            <a:off x="6144768" y="1673352"/>
            <a:ext cx="2926080" cy="310896"/>
          </a:xfrm>
          <a:prstGeom prst="rect">
            <a:avLst/>
          </a:prstGeom>
          <a:noFill/>
          <a:ln/>
        </p:spPr>
        <p:txBody>
          <a:bodyPr wrap="square" lIns="0" tIns="0" rIns="0" bIns="0" rtlCol="0" anchor="t"/>
          <a:lstStyle/>
          <a:p>
            <a:pPr algn="l" indent="0" marL="0">
              <a:buNone/>
            </a:pPr>
            <a:r>
              <a:rPr lang="en-GB" altLang="en-US" sz="2100" b="1" dirty="0">
                <a:solidFill>
                  <a:srgbClr val="0078D4"/>
                </a:solidFill>
                <a:latin typeface="Segoe UI" pitchFamily="34" charset="0"/>
                <a:ea typeface="Segoe UI" pitchFamily="34" charset="-122"/>
                <a:cs typeface="Segoe UI" pitchFamily="34" charset="-120"/>
              </a:rPr>
              <a:t>Shared team state</a:t>
            </a:r>
            <a:endParaRPr lang="en-GB" sz="2100" dirty="0"/>
          </a:p>
        </p:txBody>
      </p:sp>
      <p:sp>
        <p:nvSpPr>
          <p:cNvPr id="9" name="Text 7"/>
          <p:cNvSpPr/>
          <p:nvPr/>
        </p:nvSpPr>
        <p:spPr>
          <a:xfrm>
            <a:off x="6144768" y="2121408"/>
            <a:ext cx="4736592" cy="530352"/>
          </a:xfrm>
          <a:prstGeom prst="rect">
            <a:avLst/>
          </a:prstGeom>
          <a:noFill/>
          <a:ln/>
        </p:spPr>
        <p:txBody>
          <a:bodyPr wrap="square" lIns="0" tIns="0" rIns="0" bIns="0" rtlCol="0" anchor="t"/>
          <a:lstStyle/>
          <a:p>
            <a:pPr algn="l" indent="0" marL="0">
              <a:buNone/>
            </a:pPr>
            <a:r>
              <a:rPr lang="en-GB" altLang="en-US" sz="1700" dirty="0">
                <a:solidFill>
                  <a:srgbClr val="242424"/>
                </a:solidFill>
                <a:latin typeface="Segoe UI" pitchFamily="34" charset="0"/>
                <a:ea typeface="Segoe UI" pitchFamily="34" charset="-122"/>
                <a:cs typeface="Segoe UI" pitchFamily="34" charset="-120"/>
              </a:rPr>
              <a:t>Comment, GovernancePolicy and GovernanceException</a:t>
            </a:r>
            <a:endParaRPr lang="en-GB" sz="1700" dirty="0"/>
          </a:p>
        </p:txBody>
      </p:sp>
      <p:sp>
        <p:nvSpPr>
          <p:cNvPr id="10" name="Text 8"/>
          <p:cNvSpPr/>
          <p:nvPr/>
        </p:nvSpPr>
        <p:spPr>
          <a:xfrm>
            <a:off x="6144768" y="3044952"/>
            <a:ext cx="2926080" cy="310896"/>
          </a:xfrm>
          <a:prstGeom prst="rect">
            <a:avLst/>
          </a:prstGeom>
          <a:noFill/>
          <a:ln/>
        </p:spPr>
        <p:txBody>
          <a:bodyPr wrap="square" lIns="0" tIns="0" rIns="0" bIns="0" rtlCol="0" anchor="t"/>
          <a:lstStyle/>
          <a:p>
            <a:pPr algn="l" indent="0" marL="0">
              <a:buNone/>
            </a:pPr>
            <a:r>
              <a:rPr lang="en-GB" altLang="en-US" sz="2100" b="1" dirty="0">
                <a:solidFill>
                  <a:srgbClr val="0078D4"/>
                </a:solidFill>
                <a:latin typeface="Segoe UI" pitchFamily="34" charset="0"/>
                <a:ea typeface="Segoe UI" pitchFamily="34" charset="-122"/>
                <a:cs typeface="Segoe UI" pitchFamily="34" charset="-120"/>
              </a:rPr>
              <a:t>Personal state</a:t>
            </a:r>
            <a:endParaRPr lang="en-GB" sz="2100" dirty="0"/>
          </a:p>
        </p:txBody>
      </p:sp>
      <p:sp>
        <p:nvSpPr>
          <p:cNvPr id="11" name="Text 9"/>
          <p:cNvSpPr/>
          <p:nvPr/>
        </p:nvSpPr>
        <p:spPr>
          <a:xfrm>
            <a:off x="6144768" y="3493008"/>
            <a:ext cx="4736592" cy="859536"/>
          </a:xfrm>
          <a:prstGeom prst="rect">
            <a:avLst/>
          </a:prstGeom>
          <a:noFill/>
          <a:ln/>
        </p:spPr>
        <p:txBody>
          <a:bodyPr wrap="square" lIns="0" tIns="0" rIns="0" bIns="0" rtlCol="0" anchor="t"/>
          <a:lstStyle/>
          <a:p>
            <a:pPr algn="l" indent="0" marL="0">
              <a:buNone/>
            </a:pPr>
            <a:r>
              <a:rPr lang="en-GB" altLang="en-US" sz="1650" dirty="0">
                <a:solidFill>
                  <a:srgbClr val="242424"/>
                </a:solidFill>
                <a:latin typeface="Segoe UI" pitchFamily="34" charset="0"/>
                <a:ea typeface="Segoe UI" pitchFamily="34" charset="-122"/>
                <a:cs typeface="Segoe UI" pitchFamily="34" charset="-120"/>
              </a:rPr>
              <a:t>SavedView, AccessReview, AccessReviewEvent and FindingAck</a:t>
            </a:r>
            <a:endParaRPr lang="en-GB" sz="1650" dirty="0"/>
          </a:p>
          <a:p>
            <a:pPr algn="l" indent="0" marL="0">
              <a:buNone/>
            </a:pPr>
            <a:r>
              <a:rPr lang="en-GB" altLang="en-US" sz="1650" dirty="0">
                <a:solidFill>
                  <a:srgbClr val="242424"/>
                </a:solidFill>
                <a:latin typeface="Segoe UI" pitchFamily="34" charset="0"/>
                <a:ea typeface="Segoe UI" pitchFamily="34" charset="-122"/>
                <a:cs typeface="Segoe UI" pitchFamily="34" charset="-120"/>
              </a:rPr>
              <a:t>are filtered by user_id.</a:t>
            </a:r>
            <a:endParaRPr lang="en-GB" sz="1650" dirty="0"/>
          </a:p>
        </p:txBody>
      </p:sp>
      <p:sp>
        <p:nvSpPr>
          <p:cNvPr id="12" name="Text 10"/>
          <p:cNvSpPr/>
          <p:nvPr/>
        </p:nvSpPr>
        <p:spPr>
          <a:xfrm>
            <a:off x="758952" y="4956048"/>
            <a:ext cx="10241280" cy="320040"/>
          </a:xfrm>
          <a:prstGeom prst="rect">
            <a:avLst/>
          </a:prstGeom>
          <a:noFill/>
          <a:ln/>
        </p:spPr>
        <p:txBody>
          <a:bodyPr wrap="square" lIns="0" tIns="0" rIns="0" bIns="0" rtlCol="0" anchor="t"/>
          <a:lstStyle/>
          <a:p>
            <a:pPr algn="ctr" indent="0" marL="0">
              <a:buNone/>
            </a:pPr>
            <a:r>
              <a:rPr lang="en-GB" altLang="en-US" sz="1800" b="1" dirty="0">
                <a:solidFill>
                  <a:srgbClr val="0C695A"/>
                </a:solidFill>
                <a:latin typeface="Segoe UI" pitchFamily="34" charset="0"/>
                <a:ea typeface="Segoe UI" pitchFamily="34" charset="-122"/>
                <a:cs typeface="Segoe UI" pitchFamily="34" charset="-120"/>
              </a:rPr>
              <a:t>The entity classes define the database schema and the authorization boundary.</a:t>
            </a:r>
            <a:endParaRPr lang="en-GB" sz="1800" dirty="0"/>
          </a:p>
        </p:txBody>
      </p:sp>
      <p:sp>
        <p:nvSpPr>
          <p:cNvPr id="13" name="Text 11"/>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rayfin/data/schema.ts · eraser/04-rayfin-entities.eraser.txt</a:t>
            </a:r>
            <a:endParaRPr lang="en-GB" sz="1050" dirty="0"/>
          </a:p>
        </p:txBody>
      </p:sp>
      <p:sp>
        <p:nvSpPr>
          <p:cNvPr id="14" name="Text 12"/>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7</a:t>
            </a:r>
            <a:endParaRPr lang="en-GB"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RAYFIN SCHEMA GENERATION</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Rayfin turns decorated TypeScript classes into the Fabric SQL data model.</a:t>
            </a:r>
            <a:endParaRPr lang="en-GB" sz="2750" dirty="0"/>
          </a:p>
        </p:txBody>
      </p:sp>
      <p:sp>
        <p:nvSpPr>
          <p:cNvPr id="4" name="Shape 2"/>
          <p:cNvSpPr/>
          <p:nvPr/>
        </p:nvSpPr>
        <p:spPr>
          <a:xfrm>
            <a:off x="690829" y="1764198"/>
            <a:ext cx="1926069" cy="892569"/>
          </a:xfrm>
          <a:prstGeom prst="roundRect">
            <a:avLst>
              <a:gd name="adj" fmla="val 8421"/>
            </a:avLst>
          </a:prstGeom>
          <a:solidFill>
            <a:srgbClr val="E3F7EF"/>
          </a:solidFill>
          <a:ln w="15240">
            <a:solidFill>
              <a:srgbClr val="117865"/>
            </a:solidFill>
            <a:prstDash val="solid"/>
          </a:ln>
        </p:spPr>
        <p:txBody>
          <a:bodyPr/>
          <a:p/>
        </p:txBody>
      </p:sp>
      <p:sp>
        <p:nvSpPr>
          <p:cNvPr id="5" name="Text 3"/>
          <p:cNvSpPr/>
          <p:nvPr/>
        </p:nvSpPr>
        <p:spPr>
          <a:xfrm>
            <a:off x="841157" y="1858152"/>
            <a:ext cx="1625415" cy="507355"/>
          </a:xfrm>
          <a:prstGeom prst="rect">
            <a:avLst/>
          </a:prstGeom>
          <a:noFill/>
          <a:ln/>
        </p:spPr>
        <p:txBody>
          <a:bodyPr wrap="square" lIns="0" tIns="0" rIns="0" bIns="0" rtlCol="0" anchor="t"/>
          <a:lstStyle/>
          <a:p>
            <a:pPr algn="ctr" indent="0" marL="0">
              <a:buNone/>
            </a:pPr>
            <a:r>
              <a:rPr lang="en-GB" altLang="en-US" sz="1562" b="1" dirty="0">
                <a:solidFill>
                  <a:srgbClr val="0C695A"/>
                </a:solidFill>
                <a:latin typeface="Segoe UI" pitchFamily="34" charset="0"/>
                <a:ea typeface="Segoe UI" pitchFamily="34" charset="-122"/>
                <a:cs typeface="Segoe UI" pitchFamily="34" charset="-120"/>
              </a:rPr>
              <a:t>TypeScript</a:t>
            </a:r>
            <a:endParaRPr lang="en-GB" sz="1562" dirty="0"/>
          </a:p>
          <a:p>
            <a:pPr algn="ctr" indent="0" marL="0">
              <a:buNone/>
            </a:pPr>
            <a:r>
              <a:rPr lang="en-GB" altLang="en-US" sz="1562" b="1" dirty="0">
                <a:solidFill>
                  <a:srgbClr val="0C695A"/>
                </a:solidFill>
                <a:latin typeface="Segoe UI" pitchFamily="34" charset="0"/>
                <a:ea typeface="Segoe UI" pitchFamily="34" charset="-122"/>
                <a:cs typeface="Segoe UI" pitchFamily="34" charset="-120"/>
              </a:rPr>
              <a:t>entities</a:t>
            </a:r>
            <a:endParaRPr lang="en-GB" sz="1562" dirty="0"/>
          </a:p>
        </p:txBody>
      </p:sp>
      <p:sp>
        <p:nvSpPr>
          <p:cNvPr id="6" name="Text 4"/>
          <p:cNvSpPr/>
          <p:nvPr/>
        </p:nvSpPr>
        <p:spPr>
          <a:xfrm>
            <a:off x="841157" y="2384298"/>
            <a:ext cx="1625415" cy="310050"/>
          </a:xfrm>
          <a:prstGeom prst="rect">
            <a:avLst/>
          </a:prstGeom>
          <a:noFill/>
          <a:ln/>
        </p:spPr>
        <p:txBody>
          <a:bodyPr wrap="square" lIns="0" tIns="0" rIns="0" bIns="0" rtlCol="0" anchor="t"/>
          <a:lstStyle/>
          <a:p>
            <a:pPr algn="ctr" indent="0" marL="0">
              <a:buNone/>
            </a:pPr>
            <a:r>
              <a:rPr lang="en-GB" altLang="en-US" sz="1151" dirty="0">
                <a:solidFill>
                  <a:srgbClr val="616161"/>
                </a:solidFill>
                <a:latin typeface="Segoe UI" pitchFamily="34" charset="0"/>
                <a:ea typeface="Segoe UI" pitchFamily="34" charset="-122"/>
                <a:cs typeface="Segoe UI" pitchFamily="34" charset="-120"/>
              </a:rPr>
              <a:t>@entity · fields · policies</a:t>
            </a:r>
            <a:endParaRPr lang="en-GB" sz="1151" dirty="0"/>
          </a:p>
        </p:txBody>
      </p:sp>
      <p:sp>
        <p:nvSpPr>
          <p:cNvPr id="7" name="Shape 5"/>
          <p:cNvSpPr/>
          <p:nvPr/>
        </p:nvSpPr>
        <p:spPr>
          <a:xfrm>
            <a:off x="2673271" y="2215180"/>
            <a:ext cx="488564" cy="0"/>
          </a:xfrm>
          <a:prstGeom prst="line">
            <a:avLst/>
          </a:prstGeom>
          <a:noFill/>
          <a:ln w="23489">
            <a:solidFill>
              <a:srgbClr val="117865"/>
            </a:solidFill>
            <a:prstDash val="solid"/>
            <a:tailEnd type="triangle"/>
          </a:ln>
        </p:spPr>
        <p:txBody>
          <a:bodyPr/>
          <a:p/>
        </p:txBody>
      </p:sp>
      <p:sp>
        <p:nvSpPr>
          <p:cNvPr id="8" name="Shape 6"/>
          <p:cNvSpPr/>
          <p:nvPr/>
        </p:nvSpPr>
        <p:spPr>
          <a:xfrm>
            <a:off x="3227603" y="1764198"/>
            <a:ext cx="1362342" cy="892569"/>
          </a:xfrm>
          <a:prstGeom prst="roundRect">
            <a:avLst>
              <a:gd name="adj" fmla="val 8421"/>
            </a:avLst>
          </a:prstGeom>
          <a:solidFill>
            <a:srgbClr val="E3F7EF"/>
          </a:solidFill>
          <a:ln w="15240">
            <a:solidFill>
              <a:srgbClr val="117865"/>
            </a:solidFill>
            <a:prstDash val="solid"/>
          </a:ln>
        </p:spPr>
        <p:txBody>
          <a:bodyPr/>
          <a:p/>
        </p:txBody>
      </p:sp>
      <p:sp>
        <p:nvSpPr>
          <p:cNvPr id="9" name="Text 7"/>
          <p:cNvSpPr/>
          <p:nvPr/>
        </p:nvSpPr>
        <p:spPr>
          <a:xfrm>
            <a:off x="3368535" y="2046061"/>
            <a:ext cx="1080478" cy="263073"/>
          </a:xfrm>
          <a:prstGeom prst="rect">
            <a:avLst/>
          </a:prstGeom>
          <a:noFill/>
          <a:ln/>
        </p:spPr>
        <p:txBody>
          <a:bodyPr wrap="square" lIns="0" tIns="0" rIns="0" bIns="0" rtlCol="0" anchor="t"/>
          <a:lstStyle/>
          <a:p>
            <a:pPr algn="ctr" indent="0" marL="0">
              <a:buNone/>
            </a:pPr>
            <a:r>
              <a:rPr lang="en-GB" altLang="en-US" sz="1644" b="1" dirty="0">
                <a:solidFill>
                  <a:srgbClr val="0C695A"/>
                </a:solidFill>
                <a:latin typeface="Segoe UI" pitchFamily="34" charset="0"/>
                <a:ea typeface="Segoe UI" pitchFamily="34" charset="-122"/>
                <a:cs typeface="Segoe UI" pitchFamily="34" charset="-120"/>
              </a:rPr>
              <a:t>schema.ts</a:t>
            </a:r>
            <a:endParaRPr lang="en-GB" sz="1644" dirty="0"/>
          </a:p>
        </p:txBody>
      </p:sp>
      <p:sp>
        <p:nvSpPr>
          <p:cNvPr id="10" name="Shape 8"/>
          <p:cNvSpPr/>
          <p:nvPr/>
        </p:nvSpPr>
        <p:spPr>
          <a:xfrm>
            <a:off x="4655713" y="2215180"/>
            <a:ext cx="497959" cy="0"/>
          </a:xfrm>
          <a:prstGeom prst="line">
            <a:avLst/>
          </a:prstGeom>
          <a:noFill/>
          <a:ln w="23489">
            <a:solidFill>
              <a:srgbClr val="117865"/>
            </a:solidFill>
            <a:prstDash val="solid"/>
            <a:tailEnd type="triangle"/>
          </a:ln>
        </p:spPr>
        <p:txBody>
          <a:bodyPr/>
          <a:p/>
        </p:txBody>
      </p:sp>
      <p:sp>
        <p:nvSpPr>
          <p:cNvPr id="11" name="Shape 9"/>
          <p:cNvSpPr/>
          <p:nvPr/>
        </p:nvSpPr>
        <p:spPr>
          <a:xfrm>
            <a:off x="5219441" y="1764198"/>
            <a:ext cx="1277783" cy="892569"/>
          </a:xfrm>
          <a:prstGeom prst="roundRect">
            <a:avLst>
              <a:gd name="adj" fmla="val 8421"/>
            </a:avLst>
          </a:prstGeom>
          <a:solidFill>
            <a:srgbClr val="EFF6FC"/>
          </a:solidFill>
          <a:ln w="15240">
            <a:solidFill>
              <a:srgbClr val="0078D4"/>
            </a:solidFill>
            <a:prstDash val="solid"/>
          </a:ln>
        </p:spPr>
        <p:txBody>
          <a:bodyPr/>
          <a:p/>
        </p:txBody>
      </p:sp>
      <p:sp>
        <p:nvSpPr>
          <p:cNvPr id="12" name="Text 10"/>
          <p:cNvSpPr/>
          <p:nvPr/>
        </p:nvSpPr>
        <p:spPr>
          <a:xfrm>
            <a:off x="5369768" y="2046061"/>
            <a:ext cx="977128" cy="263073"/>
          </a:xfrm>
          <a:prstGeom prst="rect">
            <a:avLst/>
          </a:prstGeom>
          <a:noFill/>
          <a:ln/>
        </p:spPr>
        <p:txBody>
          <a:bodyPr wrap="square" lIns="0" tIns="0" rIns="0" bIns="0" rtlCol="0" anchor="t"/>
          <a:lstStyle/>
          <a:p>
            <a:pPr algn="ctr" indent="0" marL="0">
              <a:buNone/>
            </a:pPr>
            <a:r>
              <a:rPr lang="en-GB" altLang="en-US" sz="1644" b="1" dirty="0">
                <a:solidFill>
                  <a:srgbClr val="0078D4"/>
                </a:solidFill>
                <a:latin typeface="Segoe UI" pitchFamily="34" charset="0"/>
                <a:ea typeface="Segoe UI" pitchFamily="34" charset="-122"/>
                <a:cs typeface="Segoe UI" pitchFamily="34" charset="-120"/>
              </a:rPr>
              <a:t>rayfin up</a:t>
            </a:r>
            <a:endParaRPr lang="en-GB" sz="1644" dirty="0"/>
          </a:p>
        </p:txBody>
      </p:sp>
      <p:sp>
        <p:nvSpPr>
          <p:cNvPr id="13" name="Shape 11"/>
          <p:cNvSpPr/>
          <p:nvPr/>
        </p:nvSpPr>
        <p:spPr>
          <a:xfrm>
            <a:off x="6732110" y="1595079"/>
            <a:ext cx="1099269" cy="1230805"/>
          </a:xfrm>
          <a:prstGeom prst="roundRect">
            <a:avLst>
              <a:gd name="adj" fmla="val 6838"/>
            </a:avLst>
          </a:prstGeom>
          <a:solidFill>
            <a:srgbClr val="EFF6FC"/>
          </a:solidFill>
          <a:ln w="15240">
            <a:solidFill>
              <a:srgbClr val="0078D4"/>
            </a:solidFill>
            <a:prstDash val="solid"/>
          </a:ln>
        </p:spPr>
        <p:txBody>
          <a:bodyPr/>
          <a:p/>
        </p:txBody>
      </p:sp>
      <p:sp>
        <p:nvSpPr>
          <p:cNvPr id="14" name="Text 12"/>
          <p:cNvSpPr/>
          <p:nvPr/>
        </p:nvSpPr>
        <p:spPr>
          <a:xfrm>
            <a:off x="6826065" y="1698429"/>
            <a:ext cx="911360" cy="1033501"/>
          </a:xfrm>
          <a:prstGeom prst="rect">
            <a:avLst/>
          </a:prstGeom>
          <a:noFill/>
          <a:ln/>
        </p:spPr>
        <p:txBody>
          <a:bodyPr wrap="square" lIns="0" tIns="0" rIns="0" bIns="0" rtlCol="0" anchor="t"/>
          <a:lstStyle/>
          <a:p>
            <a:pPr algn="ctr" indent="0" marL="0">
              <a:buNone/>
            </a:pPr>
            <a:r>
              <a:rPr lang="en-GB" altLang="en-US" sz="1161" b="1" dirty="0">
                <a:solidFill>
                  <a:srgbClr val="242424"/>
                </a:solidFill>
                <a:latin typeface="Segoe UI" pitchFamily="34" charset="0"/>
                <a:ea typeface="Segoe UI" pitchFamily="34" charset="-122"/>
                <a:cs typeface="Segoe UI" pitchFamily="34" charset="-120"/>
              </a:rPr>
              <a:t>Data API</a:t>
            </a:r>
            <a:endParaRPr lang="en-GB" sz="1161" dirty="0"/>
          </a:p>
          <a:p>
            <a:pPr algn="ctr" indent="0" marL="0">
              <a:buNone/>
            </a:pPr>
            <a:r>
              <a:rPr lang="en-GB" altLang="en-US" sz="1161" b="1" dirty="0">
                <a:solidFill>
                  <a:srgbClr val="242424"/>
                </a:solidFill>
                <a:latin typeface="Segoe UI" pitchFamily="34" charset="0"/>
                <a:ea typeface="Segoe UI" pitchFamily="34" charset="-122"/>
                <a:cs typeface="Segoe UI" pitchFamily="34" charset="-120"/>
              </a:rPr>
              <a:t>Builder</a:t>
            </a:r>
            <a:endParaRPr lang="en-GB" sz="1161" dirty="0"/>
          </a:p>
          <a:p>
            <a:pPr algn="ctr" indent="0" marL="0">
              <a:buNone/>
            </a:pPr>
            <a:r>
              <a:rPr lang="en-GB" altLang="en-US" sz="1161" b="1" dirty="0">
                <a:solidFill>
                  <a:srgbClr val="242424"/>
                </a:solidFill>
                <a:latin typeface="Segoe UI" pitchFamily="34" charset="0"/>
                <a:ea typeface="Segoe UI" pitchFamily="34" charset="-122"/>
                <a:cs typeface="Segoe UI" pitchFamily="34" charset="-120"/>
              </a:rPr>
              <a:t>+</a:t>
            </a:r>
            <a:endParaRPr lang="en-GB" sz="1161" dirty="0"/>
          </a:p>
          <a:p>
            <a:pPr algn="ctr" indent="0" marL="0">
              <a:buNone/>
            </a:pPr>
            <a:r>
              <a:rPr lang="en-GB" altLang="en-US" sz="1161" b="1" dirty="0">
                <a:solidFill>
                  <a:srgbClr val="242424"/>
                </a:solidFill>
                <a:latin typeface="Segoe UI" pitchFamily="34" charset="0"/>
                <a:ea typeface="Segoe UI" pitchFamily="34" charset="-122"/>
                <a:cs typeface="Segoe UI" pitchFamily="34" charset="-120"/>
              </a:rPr>
              <a:t>Fabric SQL</a:t>
            </a:r>
            <a:endParaRPr lang="en-GB" sz="1161" dirty="0"/>
          </a:p>
        </p:txBody>
      </p:sp>
      <p:sp>
        <p:nvSpPr>
          <p:cNvPr id="15" name="Shape 13"/>
          <p:cNvSpPr/>
          <p:nvPr/>
        </p:nvSpPr>
        <p:spPr>
          <a:xfrm>
            <a:off x="6562992" y="2215180"/>
            <a:ext cx="150327" cy="0"/>
          </a:xfrm>
          <a:prstGeom prst="line">
            <a:avLst/>
          </a:prstGeom>
          <a:noFill/>
          <a:ln w="23489">
            <a:solidFill>
              <a:srgbClr val="0078D4"/>
            </a:solidFill>
            <a:prstDash val="solid"/>
            <a:tailEnd type="triangle"/>
          </a:ln>
        </p:spPr>
        <p:txBody>
          <a:bodyPr/>
          <a:p/>
        </p:txBody>
      </p:sp>
      <p:sp>
        <p:nvSpPr>
          <p:cNvPr id="16" name="Shape 14"/>
          <p:cNvSpPr/>
          <p:nvPr/>
        </p:nvSpPr>
        <p:spPr>
          <a:xfrm>
            <a:off x="3227603" y="3530544"/>
            <a:ext cx="1747556" cy="1033501"/>
          </a:xfrm>
          <a:prstGeom prst="roundRect">
            <a:avLst>
              <a:gd name="adj" fmla="val 7273"/>
            </a:avLst>
          </a:prstGeom>
          <a:solidFill>
            <a:srgbClr val="E3F7EF"/>
          </a:solidFill>
          <a:ln w="15240">
            <a:solidFill>
              <a:srgbClr val="117865"/>
            </a:solidFill>
            <a:prstDash val="solid"/>
          </a:ln>
        </p:spPr>
        <p:txBody>
          <a:bodyPr/>
          <a:p/>
        </p:txBody>
      </p:sp>
      <p:sp>
        <p:nvSpPr>
          <p:cNvPr id="17" name="Text 15"/>
          <p:cNvSpPr/>
          <p:nvPr/>
        </p:nvSpPr>
        <p:spPr>
          <a:xfrm>
            <a:off x="3387326" y="3699662"/>
            <a:ext cx="1428110" cy="704660"/>
          </a:xfrm>
          <a:prstGeom prst="rect">
            <a:avLst/>
          </a:prstGeom>
          <a:noFill/>
          <a:ln/>
        </p:spPr>
        <p:txBody>
          <a:bodyPr wrap="square" lIns="0" tIns="0" rIns="0" bIns="0" rtlCol="0" anchor="t"/>
          <a:lstStyle/>
          <a:p>
            <a:pPr algn="ctr" indent="0" marL="0">
              <a:buNone/>
            </a:pPr>
            <a:r>
              <a:rPr lang="en-GB" altLang="en-US" sz="1315" b="1" dirty="0">
                <a:solidFill>
                  <a:srgbClr val="0C695A"/>
                </a:solidFill>
                <a:latin typeface="Segoe UI" pitchFamily="34" charset="0"/>
                <a:ea typeface="Segoe UI" pitchFamily="34" charset="-122"/>
                <a:cs typeface="Segoe UI" pitchFamily="34" charset="-120"/>
              </a:rPr>
              <a:t>RayfinClient</a:t>
            </a:r>
            <a:endParaRPr lang="en-GB" sz="1315" dirty="0"/>
          </a:p>
          <a:p>
            <a:pPr algn="ctr" indent="0" marL="0">
              <a:buNone/>
            </a:pPr>
            <a:r>
              <a:rPr lang="en-GB" altLang="en-US" sz="1315" b="1" dirty="0">
                <a:solidFill>
                  <a:srgbClr val="0C695A"/>
                </a:solidFill>
                <a:latin typeface="Segoe UI" pitchFamily="34" charset="0"/>
                <a:ea typeface="Segoe UI" pitchFamily="34" charset="-122"/>
                <a:cs typeface="Segoe UI" pitchFamily="34" charset="-120"/>
              </a:rPr>
              <a:t>typed GraphQL proxies</a:t>
            </a:r>
            <a:endParaRPr lang="en-GB" sz="1315" dirty="0"/>
          </a:p>
        </p:txBody>
      </p:sp>
      <p:sp>
        <p:nvSpPr>
          <p:cNvPr id="18" name="Shape 16"/>
          <p:cNvSpPr/>
          <p:nvPr/>
        </p:nvSpPr>
        <p:spPr>
          <a:xfrm>
            <a:off x="3913472" y="2722535"/>
            <a:ext cx="0" cy="742241"/>
          </a:xfrm>
          <a:prstGeom prst="line">
            <a:avLst/>
          </a:prstGeom>
          <a:noFill/>
          <a:ln w="23489">
            <a:solidFill>
              <a:srgbClr val="117865"/>
            </a:solidFill>
            <a:prstDash val="solid"/>
            <a:tailEnd type="triangle"/>
          </a:ln>
        </p:spPr>
        <p:txBody>
          <a:bodyPr/>
          <a:p/>
        </p:txBody>
      </p:sp>
      <p:sp>
        <p:nvSpPr>
          <p:cNvPr id="19" name="Shape 17"/>
          <p:cNvSpPr/>
          <p:nvPr/>
        </p:nvSpPr>
        <p:spPr>
          <a:xfrm>
            <a:off x="5031532" y="3981526"/>
            <a:ext cx="1277783" cy="0"/>
          </a:xfrm>
          <a:prstGeom prst="line">
            <a:avLst/>
          </a:prstGeom>
          <a:noFill/>
          <a:ln w="23489">
            <a:solidFill>
              <a:srgbClr val="117865"/>
            </a:solidFill>
            <a:prstDash val="solid"/>
          </a:ln>
        </p:spPr>
        <p:txBody>
          <a:bodyPr/>
          <a:p/>
        </p:txBody>
      </p:sp>
      <p:sp>
        <p:nvSpPr>
          <p:cNvPr id="20" name="Shape 18"/>
          <p:cNvSpPr/>
          <p:nvPr/>
        </p:nvSpPr>
        <p:spPr>
          <a:xfrm>
            <a:off x="6309314" y="2778907"/>
            <a:ext cx="0" cy="1202619"/>
          </a:xfrm>
          <a:prstGeom prst="line">
            <a:avLst/>
          </a:prstGeom>
          <a:noFill/>
          <a:ln w="23489">
            <a:solidFill>
              <a:srgbClr val="117865"/>
            </a:solidFill>
            <a:prstDash val="solid"/>
          </a:ln>
        </p:spPr>
        <p:txBody>
          <a:bodyPr/>
          <a:p/>
        </p:txBody>
      </p:sp>
      <p:sp>
        <p:nvSpPr>
          <p:cNvPr id="21" name="Shape 19"/>
          <p:cNvSpPr/>
          <p:nvPr/>
        </p:nvSpPr>
        <p:spPr>
          <a:xfrm>
            <a:off x="6309314" y="2778907"/>
            <a:ext cx="404005" cy="0"/>
          </a:xfrm>
          <a:prstGeom prst="line">
            <a:avLst/>
          </a:prstGeom>
          <a:noFill/>
          <a:ln w="23489">
            <a:solidFill>
              <a:srgbClr val="117865"/>
            </a:solidFill>
            <a:prstDash val="solid"/>
            <a:tailEnd type="triangle"/>
          </a:ln>
        </p:spPr>
        <p:txBody>
          <a:bodyPr/>
          <a:p/>
        </p:txBody>
      </p:sp>
      <p:sp>
        <p:nvSpPr>
          <p:cNvPr id="22" name="Text 20"/>
          <p:cNvSpPr/>
          <p:nvPr/>
        </p:nvSpPr>
        <p:spPr>
          <a:xfrm>
            <a:off x="8275320" y="1700784"/>
            <a:ext cx="3246120" cy="3310128"/>
          </a:xfrm>
          <a:prstGeom prst="rect">
            <a:avLst/>
          </a:prstGeom>
          <a:noFill/>
          <a:ln/>
        </p:spPr>
        <p:txBody>
          <a:bodyPr wrap="square" lIns="254" tIns="254" rIns="254" bIns="254" rtlCol="0" anchor="ctr"/>
          <a:lstStyle/>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Field decorators define SQL types, limits and optional values.</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Authorization decorators generate read and write policies.</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schema.ts registers the 15 entities used by RayfinClient.</a:t>
            </a:r>
            <a:endParaRPr lang="en-GB" sz="1600" dirty="0"/>
          </a:p>
        </p:txBody>
      </p:sp>
      <p:sp>
        <p:nvSpPr>
          <p:cNvPr id="23" name="Text 21"/>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eraser/05-rayfin-generation.eraser.txt · rayfin/data/schema.ts</a:t>
            </a:r>
            <a:endParaRPr lang="en-GB" sz="1050" dirty="0"/>
          </a:p>
        </p:txBody>
      </p:sp>
      <p:sp>
        <p:nvSpPr>
          <p:cNvPr id="24" name="Text 22"/>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11</a:t>
            </a:r>
            <a:endParaRPr lang="en-GB"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IMPLEMENTATION SUMMARY</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The flow preserves completed work without publishing partial state.</a:t>
            </a:r>
            <a:endParaRPr lang="en-GB" sz="2750" dirty="0"/>
          </a:p>
        </p:txBody>
      </p:sp>
      <p:sp>
        <p:nvSpPr>
          <p:cNvPr id="4" name="Text 2"/>
          <p:cNvSpPr/>
          <p:nvPr/>
        </p:nvSpPr>
        <p:spPr>
          <a:xfrm>
            <a:off x="731520" y="1627632"/>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1. Generic Fabric discovery with no workspace hardcoded.</a:t>
            </a:r>
            <a:endParaRPr lang="en-GB" sz="2000" dirty="0"/>
          </a:p>
        </p:txBody>
      </p:sp>
      <p:sp>
        <p:nvSpPr>
          <p:cNvPr id="5" name="Text 3"/>
          <p:cNvSpPr/>
          <p:nvPr/>
        </p:nvSpPr>
        <p:spPr>
          <a:xfrm>
            <a:off x="731520" y="2423160"/>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2. Resumable UDF calls with budgets, continuation and bounded retries.</a:t>
            </a:r>
            <a:endParaRPr lang="en-GB" sz="2000" dirty="0"/>
          </a:p>
        </p:txBody>
      </p:sp>
      <p:sp>
        <p:nvSpPr>
          <p:cNvPr id="6" name="Text 4"/>
          <p:cNvSpPr/>
          <p:nvPr/>
        </p:nvSpPr>
        <p:spPr>
          <a:xfrm>
            <a:off x="731520" y="3218688"/>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3. Verified or inferred links are explicit, never invented from names.</a:t>
            </a:r>
            <a:endParaRPr lang="en-GB" sz="2000" dirty="0"/>
          </a:p>
        </p:txBody>
      </p:sp>
      <p:sp>
        <p:nvSpPr>
          <p:cNvPr id="7" name="Text 5"/>
          <p:cNvSpPr/>
          <p:nvPr/>
        </p:nvSpPr>
        <p:spPr>
          <a:xfrm>
            <a:off x="731520" y="4014216"/>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4. A snapshot becomes visible only after write, read-back and validation.</a:t>
            </a:r>
            <a:endParaRPr lang="en-GB" sz="2000" dirty="0"/>
          </a:p>
        </p:txBody>
      </p:sp>
      <p:sp>
        <p:nvSpPr>
          <p:cNvPr id="8" name="Shape 6"/>
          <p:cNvSpPr/>
          <p:nvPr/>
        </p:nvSpPr>
        <p:spPr>
          <a:xfrm>
            <a:off x="731520" y="5029200"/>
            <a:ext cx="10561320" cy="658368"/>
          </a:xfrm>
          <a:prstGeom prst="roundRect">
            <a:avLst>
              <a:gd name="adj" fmla="val 5556"/>
            </a:avLst>
          </a:prstGeom>
          <a:solidFill>
            <a:srgbClr val="E3F7EF"/>
          </a:solidFill>
          <a:ln w="12700">
            <a:solidFill>
              <a:srgbClr val="117865"/>
            </a:solidFill>
            <a:prstDash val="solid"/>
          </a:ln>
        </p:spPr>
        <p:txBody>
          <a:bodyPr/>
          <a:p/>
        </p:txBody>
      </p:sp>
      <p:sp>
        <p:nvSpPr>
          <p:cNvPr id="9" name="Text 7"/>
          <p:cNvSpPr/>
          <p:nvPr/>
        </p:nvSpPr>
        <p:spPr>
          <a:xfrm>
            <a:off x="950976" y="5230368"/>
            <a:ext cx="10113264" cy="265176"/>
          </a:xfrm>
          <a:prstGeom prst="rect">
            <a:avLst/>
          </a:prstGeom>
          <a:noFill/>
          <a:ln/>
        </p:spPr>
        <p:txBody>
          <a:bodyPr wrap="square" lIns="0" tIns="0" rIns="0" bIns="0" rtlCol="0" anchor="t"/>
          <a:lstStyle/>
          <a:p>
            <a:pPr algn="ctr" indent="0" marL="0">
              <a:buNone/>
            </a:pPr>
            <a:r>
              <a:rPr lang="en-GB" altLang="en-US" sz="1340" b="1" dirty="0">
                <a:solidFill>
                  <a:srgbClr val="0C695A"/>
                </a:solidFill>
                <a:latin typeface="Consolas" pitchFamily="34" charset="0"/>
                <a:ea typeface="Consolas" pitchFamily="34" charset="-122"/>
                <a:cs typeface="Consolas" pitchFamily="34" charset="-120"/>
              </a:rPr>
              <a:t>Deploy: publish the UDF, then run npx rayfin up --tenant &lt;tenant-id&gt; --workspace &lt;workspace-name&gt;</a:t>
            </a:r>
            <a:endParaRPr lang="en-GB" sz="1340" dirty="0"/>
          </a:p>
        </p:txBody>
      </p:sp>
      <p:sp>
        <p:nvSpPr>
          <p:cNvPr id="10" name="Text 8"/>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docs/architecture.md · docs/data-model.md</a:t>
            </a:r>
            <a:endParaRPr lang="en-GB" sz="1050" dirty="0"/>
          </a:p>
        </p:txBody>
      </p:sp>
      <p:sp>
        <p:nvSpPr>
          <p:cNvPr id="11" name="Text 9"/>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12</a:t>
            </a:r>
            <a:endParaRPr lang="en-GB"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5"/>
        </a:solidFill>
      </p:bgPr>
    </p:bg>
    <p:spTree>
      <p:nvGrpSpPr>
        <p:cNvPr id="1" name=""/>
        <p:cNvGrpSpPr/>
        <p:nvPr/>
      </p:nvGrpSpPr>
      <p:grpSpPr>
        <a:xfrm>
          <a:off x="0" y="0"/>
          <a:ext cx="0" cy="0"/>
          <a:chOff x="0" y="0"/>
          <a:chExt cx="0" cy="0"/>
        </a:xfrm>
      </p:grpSpPr>
      <p:pic>
        <p:nvPicPr>
          <p:cNvPr id="2" name="Image 0" descr="Fond clair Fabric Atlas">    </p:cNvPr>
          <p:cNvPicPr>
            <a:picLocks noChangeAspect="1"/>
          </p:cNvPicPr>
          <p:nvPr/>
        </p:nvPicPr>
        <p:blipFill>
          <a:blip r:embed="rId1"/>
          <a:stretch>
            <a:fillRect/>
          </a:stretch>
        </p:blipFill>
        <p:spPr>
          <a:xfrm>
            <a:off x="310896" y="310896"/>
            <a:ext cx="11567160" cy="6035040"/>
          </a:xfrm>
          <a:prstGeom prst="rect">
            <a:avLst/>
          </a:prstGeom>
        </p:spPr>
      </p:pic>
      <p:pic>
        <p:nvPicPr>
          <p:cNvPr id="3" name="Image 1" descr="Logo Fabric Atlas">    </p:cNvPr>
          <p:cNvPicPr>
            <a:picLocks noChangeAspect="1"/>
          </p:cNvPicPr>
          <p:nvPr/>
        </p:nvPicPr>
        <p:blipFill>
          <a:blip r:embed="rId2"/>
          <a:stretch>
            <a:fillRect/>
          </a:stretch>
        </p:blipFill>
        <p:spPr>
          <a:xfrm>
            <a:off x="694944" y="749808"/>
            <a:ext cx="731520" cy="731520"/>
          </a:xfrm>
          <a:prstGeom prst="rect">
            <a:avLst/>
          </a:prstGeom>
        </p:spPr>
      </p:pic>
      <p:sp>
        <p:nvSpPr>
          <p:cNvPr id="4" name="Text 0"/>
          <p:cNvSpPr/>
          <p:nvPr/>
        </p:nvSpPr>
        <p:spPr>
          <a:xfrm>
            <a:off x="1682496" y="859536"/>
            <a:ext cx="3657600" cy="256032"/>
          </a:xfrm>
          <a:prstGeom prst="rect">
            <a:avLst/>
          </a:prstGeom>
          <a:noFill/>
          <a:ln/>
        </p:spPr>
        <p:txBody>
          <a:bodyPr wrap="square" lIns="0" tIns="0" rIns="0" bIns="0" rtlCol="0" anchor="t"/>
          <a:lstStyle/>
          <a:p>
            <a:pPr algn="l" indent="0" marL="0">
              <a:buNone/>
            </a:pPr>
            <a:r>
              <a:rPr lang="en-GB" altLang="en-US" sz="1250" b="1" dirty="0">
                <a:solidFill>
                  <a:srgbClr val="117865"/>
                </a:solidFill>
                <a:latin typeface="Segoe UI" pitchFamily="34" charset="0"/>
                <a:ea typeface="Segoe UI" pitchFamily="34" charset="-122"/>
                <a:cs typeface="Segoe UI" pitchFamily="34" charset="-120"/>
              </a:rPr>
              <a:t>FABRIC ATLAS</a:t>
            </a:r>
            <a:endParaRPr lang="en-GB" sz="1250" dirty="0"/>
          </a:p>
        </p:txBody>
      </p:sp>
      <p:sp>
        <p:nvSpPr>
          <p:cNvPr id="5" name="Text 1"/>
          <p:cNvSpPr/>
          <p:nvPr/>
        </p:nvSpPr>
        <p:spPr>
          <a:xfrm>
            <a:off x="694944" y="1874520"/>
            <a:ext cx="10469880" cy="1143000"/>
          </a:xfrm>
          <a:prstGeom prst="rect">
            <a:avLst/>
          </a:prstGeom>
          <a:noFill/>
          <a:ln/>
        </p:spPr>
        <p:txBody>
          <a:bodyPr wrap="square" lIns="0" tIns="0" rIns="0" bIns="0" rtlCol="0" anchor="t"/>
          <a:lstStyle/>
          <a:p>
            <a:pPr algn="l" indent="0" marL="0">
              <a:buNone/>
            </a:pPr>
            <a:r>
              <a:rPr lang="en-GB" altLang="en-US" sz="3600" b="1" dirty="0">
                <a:solidFill>
                  <a:srgbClr val="242424"/>
                </a:solidFill>
                <a:latin typeface="Segoe UI" pitchFamily="34" charset="0"/>
                <a:ea typeface="Segoe UI" pitchFamily="34" charset="-122"/>
                <a:cs typeface="Segoe UI" pitchFamily="34" charset="-120"/>
              </a:rPr>
              <a:t>A trusted catalog stays available</a:t>
            </a:r>
            <a:endParaRPr lang="en-GB" sz="3600" dirty="0"/>
          </a:p>
          <a:p>
            <a:pPr algn="l" indent="0" marL="0">
              <a:buNone/>
            </a:pPr>
            <a:r>
              <a:rPr lang="en-GB" altLang="en-US" sz="3600" b="1" dirty="0">
                <a:solidFill>
                  <a:srgbClr val="242424"/>
                </a:solidFill>
                <a:latin typeface="Segoe UI" pitchFamily="34" charset="0"/>
                <a:ea typeface="Segoe UI" pitchFamily="34" charset="-122"/>
                <a:cs typeface="Segoe UI" pitchFamily="34" charset="-120"/>
              </a:rPr>
              <a:t>while the next snapshot is built.</a:t>
            </a:r>
            <a:endParaRPr lang="en-GB" sz="3600" dirty="0"/>
          </a:p>
        </p:txBody>
      </p:sp>
      <p:sp>
        <p:nvSpPr>
          <p:cNvPr id="6" name="Text 2"/>
          <p:cNvSpPr/>
          <p:nvPr/>
        </p:nvSpPr>
        <p:spPr>
          <a:xfrm>
            <a:off x="722376" y="3502152"/>
            <a:ext cx="9875520" cy="365760"/>
          </a:xfrm>
          <a:prstGeom prst="rect">
            <a:avLst/>
          </a:prstGeom>
          <a:noFill/>
          <a:ln/>
        </p:spPr>
        <p:txBody>
          <a:bodyPr wrap="square" lIns="0" tIns="0" rIns="0" bIns="0" rtlCol="0" anchor="t"/>
          <a:lstStyle/>
          <a:p>
            <a:pPr algn="l" indent="0" marL="0">
              <a:buNone/>
            </a:pPr>
            <a:r>
              <a:rPr lang="en-GB" altLang="en-US" sz="2000" dirty="0">
                <a:solidFill>
                  <a:srgbClr val="0C695A"/>
                </a:solidFill>
                <a:latin typeface="Segoe UI" pitchFamily="34" charset="0"/>
                <a:ea typeface="Segoe UI" pitchFamily="34" charset="-122"/>
                <a:cs typeface="Segoe UI" pitchFamily="34" charset="-120"/>
              </a:rPr>
              <a:t>Collect in resumable calls. Model once. Publish only after read-back.</a:t>
            </a:r>
            <a:endParaRPr lang="en-GB" sz="2000" dirty="0"/>
          </a:p>
        </p:txBody>
      </p:sp>
      <p:sp>
        <p:nvSpPr>
          <p:cNvPr id="7" name="Text 3"/>
          <p:cNvSpPr/>
          <p:nvPr/>
        </p:nvSpPr>
        <p:spPr>
          <a:xfrm>
            <a:off x="722376" y="4608576"/>
            <a:ext cx="4663440" cy="347472"/>
          </a:xfrm>
          <a:prstGeom prst="rect">
            <a:avLst/>
          </a:prstGeom>
          <a:noFill/>
          <a:ln/>
        </p:spPr>
        <p:txBody>
          <a:bodyPr wrap="square" lIns="0" tIns="0" rIns="0" bIns="0" rtlCol="0" anchor="t"/>
          <a:lstStyle/>
          <a:p>
            <a:pPr algn="l" indent="0" marL="0">
              <a:buNone/>
            </a:pPr>
            <a:r>
              <a:rPr lang="en-GB" altLang="en-US" sz="2300" b="1" dirty="0">
                <a:solidFill>
                  <a:srgbClr val="0C695A"/>
                </a:solidFill>
                <a:latin typeface="Segoe UI" pitchFamily="34" charset="0"/>
                <a:ea typeface="Segoe UI" pitchFamily="34" charset="-122"/>
                <a:cs typeface="Segoe UI" pitchFamily="34" charset="-120"/>
              </a:rPr>
              <a:t>Questions and feedback</a:t>
            </a:r>
            <a:endParaRPr lang="en-GB" sz="2300" dirty="0"/>
          </a:p>
        </p:txBody>
      </p:sp>
      <p:sp>
        <p:nvSpPr>
          <p:cNvPr id="8" name="Text 4"/>
          <p:cNvSpPr/>
          <p:nvPr/>
        </p:nvSpPr>
        <p:spPr>
          <a:xfrm>
            <a:off x="722376" y="5138928"/>
            <a:ext cx="4709160" cy="292608"/>
          </a:xfrm>
          <a:prstGeom prst="rect">
            <a:avLst/>
          </a:prstGeom>
          <a:noFill/>
          <a:ln/>
        </p:spPr>
        <p:txBody>
          <a:bodyPr wrap="square" lIns="0" tIns="0" rIns="0" bIns="0" rtlCol="0" anchor="t"/>
          <a:lstStyle/>
          <a:p>
            <a:pPr algn="l" indent="0" marL="0">
              <a:buNone/>
            </a:pPr>
            <a:r>
              <a:rPr lang="en-GB" altLang="en-US" sz="1700" dirty="0">
                <a:solidFill>
                  <a:srgbClr val="616161"/>
                </a:solidFill>
                <a:latin typeface="Segoe UI" pitchFamily="34" charset="0"/>
                <a:ea typeface="Segoe UI" pitchFamily="34" charset="-122"/>
                <a:cs typeface="Segoe UI" pitchFamily="34" charset="-120"/>
              </a:rPr>
              <a:t>github.com/fredgis/FabricAtlas</a:t>
            </a:r>
            <a:endParaRPr lang="en-GB" sz="1700" dirty="0"/>
          </a:p>
        </p:txBody>
      </p:sp>
      <p:sp>
        <p:nvSpPr>
          <p:cNvPr id="9" name="Text 5"/>
          <p:cNvSpPr/>
          <p:nvPr/>
        </p:nvSpPr>
        <p:spPr>
          <a:xfrm>
            <a:off x="722376" y="5769864"/>
            <a:ext cx="5669280" cy="256032"/>
          </a:xfrm>
          <a:prstGeom prst="rect">
            <a:avLst/>
          </a:prstGeom>
          <a:noFill/>
          <a:ln/>
        </p:spPr>
        <p:txBody>
          <a:bodyPr wrap="square" lIns="0" tIns="0" rIns="0" bIns="0" rtlCol="0" anchor="t"/>
          <a:lstStyle/>
          <a:p>
            <a:pPr algn="l" indent="0" marL="0">
              <a:buNone/>
            </a:pPr>
            <a:r>
              <a:rPr lang="en-GB" altLang="en-US" sz="1400" dirty="0">
                <a:solidFill>
                  <a:srgbClr val="242424"/>
                </a:solidFill>
                <a:latin typeface="Segoe UI" pitchFamily="34" charset="0"/>
                <a:ea typeface="Segoe UI" pitchFamily="34" charset="-122"/>
                <a:cs typeface="Segoe UI" pitchFamily="34" charset="-120"/>
              </a:rPr>
              <a:t>C4 · Eraser · Rayfin entities · MCD</a:t>
            </a:r>
            <a:endParaRPr lang="en-GB" sz="1400" dirty="0"/>
          </a:p>
        </p:txBody>
      </p:sp>
      <p:sp>
        <p:nvSpPr>
          <p:cNvPr id="10" name="Text 6"/>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github.com/fredgis/FabricAtlas</a:t>
            </a:r>
            <a:endParaRPr lang="en-GB" sz="1050" dirty="0"/>
          </a:p>
        </p:txBody>
      </p:sp>
      <p:sp>
        <p:nvSpPr>
          <p:cNvPr id="11" name="Text 7"/>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13</a:t>
            </a:r>
            <a:endParaRPr lang="en-GB" sz="105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37744"/>
            <a:ext cx="4114800" cy="228600"/>
          </a:xfrm>
          <a:prstGeom prst="rect">
            <a:avLst/>
          </a:prstGeom>
          <a:noFill/>
        </p:spPr>
        <p:txBody>
          <a:bodyPr wrap="none" lIns="0" rIns="0" tIns="0" bIns="0" anchor="t">
            <a:spAutoFit/>
          </a:bodyPr>
          <a:lstStyle/>
          <a:p>
            <a:pPr algn="l"/>
            <a:r>
              <a:rPr sz="1150" b="1">
                <a:solidFill>
                  <a:srgbClr val="117865"/>
                </a:solidFill>
                <a:latin typeface="Segoe UI"/>
              </a:rPr>
              <a:t>UML ENTITY MODEL</a:t>
            </a:r>
          </a:p>
        </p:txBody>
      </p:sp>
      <p:sp>
        <p:nvSpPr>
          <p:cNvPr id="3" name="TextBox 2"/>
          <p:cNvSpPr txBox="1"/>
          <p:nvPr/>
        </p:nvSpPr>
        <p:spPr>
          <a:xfrm>
            <a:off x="530352" y="548640"/>
            <a:ext cx="11018520" cy="841248"/>
          </a:xfrm>
          <a:prstGeom prst="rect">
            <a:avLst/>
          </a:prstGeom>
          <a:noFill/>
        </p:spPr>
        <p:txBody>
          <a:bodyPr wrap="none" lIns="0" rIns="0" tIns="0" bIns="0" anchor="t">
            <a:spAutoFit/>
          </a:bodyPr>
          <a:lstStyle/>
          <a:p>
            <a:pPr algn="l"/>
            <a:r>
              <a:rPr sz="2750" b="1">
                <a:solidFill>
                  <a:srgbClr val="242424"/>
                </a:solidFill>
                <a:latin typeface="Segoe UI"/>
              </a:rPr>
              <a:t>The UML model shows entity classes and logical associations.</a:t>
            </a:r>
          </a:p>
        </p:txBody>
      </p:sp>
      <p:sp>
        <p:nvSpPr>
          <p:cNvPr id="4" name="Rounded Rectangle 3"/>
          <p:cNvSpPr/>
          <p:nvPr/>
        </p:nvSpPr>
        <p:spPr>
          <a:xfrm>
            <a:off x="411480" y="1472184"/>
            <a:ext cx="7726679" cy="4443984"/>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uml.png"/>
          <p:cNvPicPr>
            <a:picLocks noChangeAspect="1"/>
          </p:cNvPicPr>
          <p:nvPr/>
        </p:nvPicPr>
        <p:blipFill>
          <a:blip r:embed="rId2"/>
          <a:stretch>
            <a:fillRect/>
          </a:stretch>
        </p:blipFill>
        <p:spPr>
          <a:xfrm>
            <a:off x="1820732" y="1554480"/>
            <a:ext cx="4908175" cy="4279392"/>
          </a:xfrm>
          <a:prstGeom prst="rect">
            <a:avLst/>
          </a:prstGeom>
        </p:spPr>
      </p:pic>
      <p:sp>
        <p:nvSpPr>
          <p:cNvPr id="6" name="TextBox 5"/>
          <p:cNvSpPr txBox="1"/>
          <p:nvPr/>
        </p:nvSpPr>
        <p:spPr>
          <a:xfrm>
            <a:off x="8357616" y="1673352"/>
            <a:ext cx="3227832" cy="4069080"/>
          </a:xfrm>
          <a:prstGeom prst="rect">
            <a:avLst/>
          </a:prstGeom>
          <a:noFill/>
        </p:spPr>
        <p:txBody>
          <a:bodyPr wrap="square" lIns="36576" rIns="0" tIns="0" bIns="0">
            <a:spAutoFit/>
          </a:bodyPr>
          <a:lstStyle/>
          <a:p>
            <a:pPr>
              <a:buChar char="•"/>
              <a:spcAft>
                <a:spcPts val="1800"/>
              </a:spcAft>
              <a:defRPr sz="1550">
                <a:solidFill>
                  <a:srgbClr val="242424"/>
                </a:solidFill>
                <a:latin typeface="Segoe UI"/>
              </a:defRPr>
            </a:pPr>
            <a:r>
              <a:t>Selected properties mirror the TypeScript entity classes.</a:t>
            </a:r>
          </a:p>
          <a:p>
            <a:pPr>
              <a:buChar char="•"/>
              <a:spcAft>
                <a:spcPts val="1800"/>
              </a:spcAft>
              <a:defRPr sz="1550">
                <a:solidFill>
                  <a:srgbClr val="242424"/>
                </a:solidFill>
                <a:latin typeface="Segoe UI"/>
              </a:defRPr>
            </a:pPr>
            <a:r>
              <a:t>Workspace publishes a snapshot; FabricItem anchors item-level facts.</a:t>
            </a:r>
          </a:p>
          <a:p>
            <a:pPr>
              <a:buChar char="•"/>
              <a:spcAft>
                <a:spcPts val="1800"/>
              </a:spcAft>
              <a:defRPr sz="1550">
                <a:solidFill>
                  <a:srgbClr val="242424"/>
                </a:solidFill>
                <a:latin typeface="Segoe UI"/>
              </a:defRPr>
            </a:pPr>
            <a:r>
              <a:t>Lines are logical associations, not Rayfin navigation decorators.</a:t>
            </a:r>
          </a:p>
        </p:txBody>
      </p:sp>
      <p:sp>
        <p:nvSpPr>
          <p:cNvPr id="7" name="TextBox 6"/>
          <p:cNvSpPr txBox="1"/>
          <p:nvPr/>
        </p:nvSpPr>
        <p:spPr>
          <a:xfrm>
            <a:off x="530352" y="6428232"/>
            <a:ext cx="10195560" cy="182880"/>
          </a:xfrm>
          <a:prstGeom prst="rect">
            <a:avLst/>
          </a:prstGeom>
          <a:noFill/>
        </p:spPr>
        <p:txBody>
          <a:bodyPr wrap="none" lIns="0" rIns="0" tIns="0" bIns="0" anchor="t">
            <a:spAutoFit/>
          </a:bodyPr>
          <a:lstStyle/>
          <a:p>
            <a:pPr algn="l"/>
            <a:r>
              <a:rPr sz="1050" b="0">
                <a:solidFill>
                  <a:srgbClr val="616161"/>
                </a:solidFill>
                <a:latin typeface="Segoe UI"/>
              </a:rPr>
              <a:t>Source: rayfin/data/*.ts (15 classes)</a:t>
            </a:r>
          </a:p>
        </p:txBody>
      </p:sp>
      <p:sp>
        <p:nvSpPr>
          <p:cNvPr id="8" name="TextBox 7"/>
          <p:cNvSpPr txBox="1"/>
          <p:nvPr/>
        </p:nvSpPr>
        <p:spPr>
          <a:xfrm>
            <a:off x="11109960" y="6428232"/>
            <a:ext cx="502920" cy="182880"/>
          </a:xfrm>
          <a:prstGeom prst="rect">
            <a:avLst/>
          </a:prstGeom>
          <a:noFill/>
        </p:spPr>
        <p:txBody>
          <a:bodyPr wrap="none" lIns="0" rIns="0" tIns="0" bIns="0" anchor="t">
            <a:spAutoFit/>
          </a:bodyPr>
          <a:lstStyle/>
          <a:p>
            <a:pPr algn="r"/>
            <a:r>
              <a:rPr sz="1050" b="0">
                <a:solidFill>
                  <a:srgbClr val="616161"/>
                </a:solidFill>
                <a:latin typeface="Segoe UI"/>
              </a:rPr>
              <a:t>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37744"/>
            <a:ext cx="4114800" cy="228600"/>
          </a:xfrm>
          <a:prstGeom prst="rect">
            <a:avLst/>
          </a:prstGeom>
          <a:noFill/>
        </p:spPr>
        <p:txBody>
          <a:bodyPr wrap="none" lIns="0" rIns="0" tIns="0" bIns="0" anchor="t">
            <a:spAutoFit/>
          </a:bodyPr>
          <a:lstStyle/>
          <a:p>
            <a:pPr algn="l"/>
            <a:r>
              <a:rPr sz="1150" b="1">
                <a:solidFill>
                  <a:srgbClr val="117865"/>
                </a:solidFill>
                <a:latin typeface="Segoe UI"/>
              </a:rPr>
              <a:t>PHYSICAL DATA MODEL</a:t>
            </a:r>
          </a:p>
        </p:txBody>
      </p:sp>
      <p:sp>
        <p:nvSpPr>
          <p:cNvPr id="3" name="TextBox 2"/>
          <p:cNvSpPr txBox="1"/>
          <p:nvPr/>
        </p:nvSpPr>
        <p:spPr>
          <a:xfrm>
            <a:off x="530352" y="548640"/>
            <a:ext cx="11018520" cy="841248"/>
          </a:xfrm>
          <a:prstGeom prst="rect">
            <a:avLst/>
          </a:prstGeom>
          <a:noFill/>
        </p:spPr>
        <p:txBody>
          <a:bodyPr wrap="none" lIns="0" rIns="0" tIns="0" bIns="0" anchor="t">
            <a:spAutoFit/>
          </a:bodyPr>
          <a:lstStyle/>
          <a:p>
            <a:pPr algn="l"/>
            <a:r>
              <a:rPr sz="2750" b="1">
                <a:solidFill>
                  <a:srgbClr val="242424"/>
                </a:solidFill>
                <a:latin typeface="Segoe UI"/>
              </a:rPr>
              <a:t>The snapshot catalog becomes concrete MSSQL tables.</a:t>
            </a:r>
          </a:p>
        </p:txBody>
      </p:sp>
      <p:sp>
        <p:nvSpPr>
          <p:cNvPr id="4" name="Rounded Rectangle 3"/>
          <p:cNvSpPr/>
          <p:nvPr/>
        </p:nvSpPr>
        <p:spPr>
          <a:xfrm>
            <a:off x="411480" y="1472184"/>
            <a:ext cx="7726679" cy="4443984"/>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2-mpd-catalog.png"/>
          <p:cNvPicPr>
            <a:picLocks noChangeAspect="1"/>
          </p:cNvPicPr>
          <p:nvPr/>
        </p:nvPicPr>
        <p:blipFill>
          <a:blip r:embed="rId2"/>
          <a:stretch>
            <a:fillRect/>
          </a:stretch>
        </p:blipFill>
        <p:spPr>
          <a:xfrm>
            <a:off x="1404496" y="1554480"/>
            <a:ext cx="5740647" cy="4279392"/>
          </a:xfrm>
          <a:prstGeom prst="rect">
            <a:avLst/>
          </a:prstGeom>
        </p:spPr>
      </p:pic>
      <p:sp>
        <p:nvSpPr>
          <p:cNvPr id="6" name="TextBox 5"/>
          <p:cNvSpPr txBox="1"/>
          <p:nvPr/>
        </p:nvSpPr>
        <p:spPr>
          <a:xfrm>
            <a:off x="8357616" y="1673352"/>
            <a:ext cx="3227832" cy="4069080"/>
          </a:xfrm>
          <a:prstGeom prst="rect">
            <a:avLst/>
          </a:prstGeom>
          <a:noFill/>
        </p:spPr>
        <p:txBody>
          <a:bodyPr wrap="square" lIns="36576" rIns="0" tIns="0" bIns="0">
            <a:spAutoFit/>
          </a:bodyPr>
          <a:lstStyle/>
          <a:p>
            <a:pPr>
              <a:buChar char="•"/>
              <a:spcAft>
                <a:spcPts val="1800"/>
              </a:spcAft>
              <a:defRPr sz="1550">
                <a:solidFill>
                  <a:srgbClr val="242424"/>
                </a:solidFill>
                <a:latin typeface="Segoe UI"/>
              </a:defRPr>
            </a:pPr>
            <a:r>
              <a:t>Entity names become plural dbo table names.</a:t>
            </a:r>
          </a:p>
          <a:p>
            <a:pPr>
              <a:buChar char="•"/>
              <a:spcAft>
                <a:spcPts val="1800"/>
              </a:spcAft>
              <a:defRPr sz="1550">
                <a:solidFill>
                  <a:srgbClr val="242424"/>
                </a:solidFill>
                <a:latin typeface="Segoe UI"/>
              </a:defRPr>
            </a:pPr>
            <a:r>
              <a:t>id becomes a UNIQUEIDENTIFIER primary key; optional fields become NULL.</a:t>
            </a:r>
          </a:p>
          <a:p>
            <a:pPr>
              <a:buChar char="•"/>
              <a:spcAft>
                <a:spcPts val="1800"/>
              </a:spcAft>
              <a:defRPr sz="1550">
                <a:solidFill>
                  <a:srgbClr val="242424"/>
                </a:solidFill>
                <a:latin typeface="Segoe UI"/>
              </a:defRPr>
            </a:pPr>
            <a:r>
              <a:t>Text, date, boolean and set decorators become NVARCHAR, DATETIME2, BIT and CHECK constraints.</a:t>
            </a:r>
          </a:p>
        </p:txBody>
      </p:sp>
      <p:sp>
        <p:nvSpPr>
          <p:cNvPr id="7" name="TextBox 6"/>
          <p:cNvSpPr txBox="1"/>
          <p:nvPr/>
        </p:nvSpPr>
        <p:spPr>
          <a:xfrm>
            <a:off x="530352" y="6428232"/>
            <a:ext cx="10195560" cy="182880"/>
          </a:xfrm>
          <a:prstGeom prst="rect">
            <a:avLst/>
          </a:prstGeom>
          <a:noFill/>
        </p:spPr>
        <p:txBody>
          <a:bodyPr wrap="none" lIns="0" rIns="0" tIns="0" bIns="0" anchor="t">
            <a:spAutoFit/>
          </a:bodyPr>
          <a:lstStyle/>
          <a:p>
            <a:pPr algn="l"/>
            <a:r>
              <a:rPr sz="1050" b="0">
                <a:solidFill>
                  <a:srgbClr val="616161"/>
                </a:solidFill>
                <a:latin typeface="Segoe UI"/>
              </a:rPr>
              <a:t>Source: rayfin/data/*.ts + @microsoft/rayfin-core 1.33.1 MSSQL mapper</a:t>
            </a:r>
          </a:p>
        </p:txBody>
      </p:sp>
      <p:sp>
        <p:nvSpPr>
          <p:cNvPr id="8" name="TextBox 7"/>
          <p:cNvSpPr txBox="1"/>
          <p:nvPr/>
        </p:nvSpPr>
        <p:spPr>
          <a:xfrm>
            <a:off x="11109960" y="6428232"/>
            <a:ext cx="502920" cy="182880"/>
          </a:xfrm>
          <a:prstGeom prst="rect">
            <a:avLst/>
          </a:prstGeom>
          <a:noFill/>
        </p:spPr>
        <p:txBody>
          <a:bodyPr wrap="none" lIns="0" rIns="0" tIns="0" bIns="0" anchor="t">
            <a:spAutoFit/>
          </a:bodyPr>
          <a:lstStyle/>
          <a:p>
            <a:pPr algn="r"/>
            <a:r>
              <a:rPr sz="1050" b="0">
                <a:solidFill>
                  <a:srgbClr val="616161"/>
                </a:solidFill>
                <a:latin typeface="Segoe UI"/>
              </a:rPr>
              <a:t>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37744"/>
            <a:ext cx="4114800" cy="228600"/>
          </a:xfrm>
          <a:prstGeom prst="rect">
            <a:avLst/>
          </a:prstGeom>
          <a:noFill/>
        </p:spPr>
        <p:txBody>
          <a:bodyPr wrap="none" lIns="0" rIns="0" tIns="0" bIns="0" anchor="t">
            <a:spAutoFit/>
          </a:bodyPr>
          <a:lstStyle/>
          <a:p>
            <a:pPr algn="l"/>
            <a:r>
              <a:rPr sz="1150" b="1">
                <a:solidFill>
                  <a:srgbClr val="117865"/>
                </a:solidFill>
                <a:latin typeface="Segoe UI"/>
              </a:rPr>
              <a:t>PHYSICAL DATA MODEL</a:t>
            </a:r>
          </a:p>
        </p:txBody>
      </p:sp>
      <p:sp>
        <p:nvSpPr>
          <p:cNvPr id="3" name="TextBox 2"/>
          <p:cNvSpPr txBox="1"/>
          <p:nvPr/>
        </p:nvSpPr>
        <p:spPr>
          <a:xfrm>
            <a:off x="530352" y="548640"/>
            <a:ext cx="11018520" cy="841248"/>
          </a:xfrm>
          <a:prstGeom prst="rect">
            <a:avLst/>
          </a:prstGeom>
          <a:noFill/>
        </p:spPr>
        <p:txBody>
          <a:bodyPr wrap="none" lIns="0" rIns="0" tIns="0" bIns="0" anchor="t">
            <a:spAutoFit/>
          </a:bodyPr>
          <a:lstStyle/>
          <a:p>
            <a:pPr algn="l"/>
            <a:r>
              <a:rPr sz="2750" b="1">
                <a:solidFill>
                  <a:srgbClr val="242424"/>
                </a:solidFill>
                <a:latin typeface="Segoe UI"/>
              </a:rPr>
              <a:t>Access and audit use the same physical SQL rules.</a:t>
            </a:r>
          </a:p>
        </p:txBody>
      </p:sp>
      <p:sp>
        <p:nvSpPr>
          <p:cNvPr id="4" name="Rounded Rectangle 3"/>
          <p:cNvSpPr/>
          <p:nvPr/>
        </p:nvSpPr>
        <p:spPr>
          <a:xfrm>
            <a:off x="411480" y="1472184"/>
            <a:ext cx="7726679" cy="4443984"/>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mpd-access.png"/>
          <p:cNvPicPr>
            <a:picLocks noChangeAspect="1"/>
          </p:cNvPicPr>
          <p:nvPr/>
        </p:nvPicPr>
        <p:blipFill>
          <a:blip r:embed="rId2"/>
          <a:stretch>
            <a:fillRect/>
          </a:stretch>
        </p:blipFill>
        <p:spPr>
          <a:xfrm>
            <a:off x="1162534" y="1554480"/>
            <a:ext cx="6224570" cy="4279392"/>
          </a:xfrm>
          <a:prstGeom prst="rect">
            <a:avLst/>
          </a:prstGeom>
        </p:spPr>
      </p:pic>
      <p:sp>
        <p:nvSpPr>
          <p:cNvPr id="6" name="TextBox 5"/>
          <p:cNvSpPr txBox="1"/>
          <p:nvPr/>
        </p:nvSpPr>
        <p:spPr>
          <a:xfrm>
            <a:off x="8357616" y="1673352"/>
            <a:ext cx="3227832" cy="4069080"/>
          </a:xfrm>
          <a:prstGeom prst="rect">
            <a:avLst/>
          </a:prstGeom>
          <a:noFill/>
        </p:spPr>
        <p:txBody>
          <a:bodyPr wrap="square" lIns="36576" rIns="0" tIns="0" bIns="0">
            <a:spAutoFit/>
          </a:bodyPr>
          <a:lstStyle/>
          <a:p>
            <a:pPr>
              <a:buChar char="•"/>
              <a:spcAft>
                <a:spcPts val="1800"/>
              </a:spcAft>
              <a:defRPr sz="1550">
                <a:solidFill>
                  <a:srgbClr val="242424"/>
                </a:solidFill>
                <a:latin typeface="Segoe UI"/>
              </a:defRPr>
            </a:pPr>
            <a:r>
              <a:t>workspace_id and snapshotId scope each table.</a:t>
            </a:r>
          </a:p>
          <a:p>
            <a:pPr>
              <a:buChar char="•"/>
              <a:spcAft>
                <a:spcPts val="1800"/>
              </a:spcAft>
              <a:defRPr sz="1550">
                <a:solidFill>
                  <a:srgbClr val="242424"/>
                </a:solidFill>
                <a:latin typeface="Segoe UI"/>
              </a:defRPr>
            </a:pPr>
            <a:r>
              <a:t>principalRef and itemFabricId remain NVARCHAR logical references.</a:t>
            </a:r>
          </a:p>
          <a:p>
            <a:pPr>
              <a:buChar char="•"/>
              <a:spcAft>
                <a:spcPts val="1800"/>
              </a:spcAft>
              <a:defRPr sz="1550">
                <a:solidFill>
                  <a:srgbClr val="242424"/>
                </a:solidFill>
                <a:latin typeface="Segoe UI"/>
              </a:defRPr>
            </a:pPr>
            <a:r>
              <a:t>No SQL foreign keys are generated because Atlas declares no @one or @many properties.</a:t>
            </a:r>
          </a:p>
        </p:txBody>
      </p:sp>
      <p:sp>
        <p:nvSpPr>
          <p:cNvPr id="7" name="TextBox 6"/>
          <p:cNvSpPr txBox="1"/>
          <p:nvPr/>
        </p:nvSpPr>
        <p:spPr>
          <a:xfrm>
            <a:off x="530352" y="6428232"/>
            <a:ext cx="10195560" cy="182880"/>
          </a:xfrm>
          <a:prstGeom prst="rect">
            <a:avLst/>
          </a:prstGeom>
          <a:noFill/>
        </p:spPr>
        <p:txBody>
          <a:bodyPr wrap="none" lIns="0" rIns="0" tIns="0" bIns="0" anchor="t">
            <a:spAutoFit/>
          </a:bodyPr>
          <a:lstStyle/>
          <a:p>
            <a:pPr algn="l"/>
            <a:r>
              <a:rPr sz="1050" b="0">
                <a:solidFill>
                  <a:srgbClr val="616161"/>
                </a:solidFill>
                <a:latin typeface="Segoe UI"/>
              </a:rPr>
              <a:t>Source: rayfin/data/*.ts + Rayfin schema analyzer</a:t>
            </a:r>
          </a:p>
        </p:txBody>
      </p:sp>
      <p:sp>
        <p:nvSpPr>
          <p:cNvPr id="8" name="TextBox 7"/>
          <p:cNvSpPr txBox="1"/>
          <p:nvPr/>
        </p:nvSpPr>
        <p:spPr>
          <a:xfrm>
            <a:off x="11109960" y="6428232"/>
            <a:ext cx="502920" cy="182880"/>
          </a:xfrm>
          <a:prstGeom prst="rect">
            <a:avLst/>
          </a:prstGeom>
          <a:noFill/>
        </p:spPr>
        <p:txBody>
          <a:bodyPr wrap="none" lIns="0" rIns="0" tIns="0" bIns="0" anchor="t">
            <a:spAutoFit/>
          </a:bodyPr>
          <a:lstStyle/>
          <a:p>
            <a:pPr algn="r"/>
            <a:r>
              <a:rPr sz="1050" b="0">
                <a:solidFill>
                  <a:srgbClr val="616161"/>
                </a:solidFill>
                <a:latin typeface="Segoe U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Fabric Atlas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Fabric Atlas: development and architecture</dc:title>
  <dc:subject>C4 architecture, UDF synchronization and Rayfin snapshots</dc:subject>
  <dc:creator>Fabric Atlas</dc:creator>
  <cp:lastModifiedBy>Fabric Atlas</cp:lastModifiedBy>
  <cp:revision>1</cp:revision>
  <dcterms:created xsi:type="dcterms:W3CDTF">2026-09-19T12:05:53Z</dcterms:created>
  <dcterms:modified xsi:type="dcterms:W3CDTF">2026-09-19T12:05:53Z</dcterms:modified>
</cp:coreProperties>
</file>