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7" r:id="rId10"/>
    <p:sldId id="270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6" y="9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nd clair Fabric Atla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310896"/>
            <a:ext cx="11567160" cy="6035040"/>
          </a:xfrm>
          <a:prstGeom prst="rect">
            <a:avLst/>
          </a:prstGeom>
        </p:spPr>
      </p:pic>
      <p:pic>
        <p:nvPicPr>
          <p:cNvPr id="3" name="Image 1" descr="Logo Fabric Atl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749808"/>
            <a:ext cx="731520" cy="731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82496" y="8595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1250" b="1" dirty="0">
                <a:solidFill>
                  <a:srgbClr val="1178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 ATLAS</a:t>
            </a:r>
            <a:endParaRPr lang="en-GB" sz="1250" dirty="0"/>
          </a:p>
        </p:txBody>
      </p:sp>
      <p:sp>
        <p:nvSpPr>
          <p:cNvPr id="5" name="Text 1"/>
          <p:cNvSpPr/>
          <p:nvPr/>
        </p:nvSpPr>
        <p:spPr>
          <a:xfrm>
            <a:off x="694944" y="1847088"/>
            <a:ext cx="10469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36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 Atlas turns Fabric metadata</a:t>
            </a:r>
            <a:endParaRPr lang="en-GB" sz="3600" dirty="0"/>
          </a:p>
          <a:p>
            <a:pPr marL="0" indent="0" algn="l">
              <a:buNone/>
            </a:pPr>
            <a:r>
              <a:rPr lang="en-GB" altLang="en-US" sz="36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into a shared working catalog.</a:t>
            </a:r>
            <a:endParaRPr lang="en-GB" sz="3600" dirty="0"/>
          </a:p>
        </p:txBody>
      </p:sp>
      <p:sp>
        <p:nvSpPr>
          <p:cNvPr id="6" name="Text 2"/>
          <p:cNvSpPr/>
          <p:nvPr/>
        </p:nvSpPr>
        <p:spPr>
          <a:xfrm>
            <a:off x="722376" y="346557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2000" dirty="0">
                <a:solidFill>
                  <a:srgbClr val="0C69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Development, architecture and implementation choices</a:t>
            </a:r>
            <a:endParaRPr lang="en-GB" sz="2000" dirty="0"/>
          </a:p>
        </p:txBody>
      </p:sp>
      <p:sp>
        <p:nvSpPr>
          <p:cNvPr id="7" name="Text 3"/>
          <p:cNvSpPr/>
          <p:nvPr/>
        </p:nvSpPr>
        <p:spPr>
          <a:xfrm>
            <a:off x="722376" y="4251960"/>
            <a:ext cx="7589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16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+ Rayfin Functions · Fabric SQL · minimal Python compatibility</a:t>
            </a:r>
            <a:endParaRPr lang="en-GB" sz="1600" dirty="0"/>
          </a:p>
        </p:txBody>
      </p:sp>
      <p:sp>
        <p:nvSpPr>
          <p:cNvPr id="8" name="Text 4"/>
          <p:cNvSpPr/>
          <p:nvPr/>
        </p:nvSpPr>
        <p:spPr>
          <a:xfrm>
            <a:off x="722376" y="520293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21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→ Discover → Collect → Validate → Publish</a:t>
            </a:r>
            <a:endParaRPr lang="en-GB" sz="2100" dirty="0"/>
          </a:p>
        </p:txBody>
      </p:sp>
      <p:sp>
        <p:nvSpPr>
          <p:cNvPr id="9" name="Text 5"/>
          <p:cNvSpPr/>
          <p:nvPr/>
        </p:nvSpPr>
        <p:spPr>
          <a:xfrm>
            <a:off x="722376" y="58155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120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slides · October 2026 · Fabric Atlas 2.1.2</a:t>
            </a:r>
            <a:endParaRPr lang="en-GB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FabricAtlasCover">
            <a:hlinkClick r:id="" action="ppaction://media"/>
            <a:extLst>
              <a:ext uri="{FF2B5EF4-FFF2-40B4-BE49-F238E27FC236}">
                <a16:creationId xmlns:a16="http://schemas.microsoft.com/office/drawing/2014/main" id="{795B62FB-E2C7-9348-DA2D-BA5E3D68E19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337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5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3774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1150" b="1" dirty="0">
                <a:solidFill>
                  <a:srgbClr val="1178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</a:t>
            </a:r>
            <a:endParaRPr lang="en-GB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548640"/>
            <a:ext cx="10972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275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validated snapshot powers every selected workspace view.</a:t>
            </a:r>
            <a:endParaRPr lang="en-GB" sz="2750" dirty="0"/>
          </a:p>
        </p:txBody>
      </p:sp>
      <p:sp>
        <p:nvSpPr>
          <p:cNvPr id="4" name="Shape 2"/>
          <p:cNvSpPr/>
          <p:nvPr/>
        </p:nvSpPr>
        <p:spPr>
          <a:xfrm>
            <a:off x="530352" y="1508760"/>
            <a:ext cx="7178040" cy="4142232"/>
          </a:xfrm>
          <a:prstGeom prst="roundRect">
            <a:avLst>
              <a:gd name="adj" fmla="val 132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Complete Fabric Atlas screenshot recolored in blue and gre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462"/>
            <a:ext cx="7050024" cy="35928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73568" y="1627632"/>
            <a:ext cx="3584448" cy="3538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62128" indent="-262128">
              <a:buSzPct val="100000"/>
              <a:buChar char="•"/>
            </a:pPr>
            <a:r>
              <a:rPr lang="en-GB" altLang="en-US" sz="172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Multi-workspace catalog, persistent sync status and switching.</a:t>
            </a:r>
            <a:endParaRPr lang="en-GB" sz="1720" dirty="0"/>
          </a:p>
          <a:p>
            <a:pPr marL="262128" indent="-262128">
              <a:buSzPct val="100000"/>
              <a:buChar char="•"/>
            </a:pPr>
            <a:r>
              <a:rPr lang="en-GB" altLang="en-US" sz="172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Catalog, object lineage, governance and recent jobs.</a:t>
            </a:r>
            <a:endParaRPr lang="en-GB" sz="1720" dirty="0"/>
          </a:p>
          <a:p>
            <a:pPr marL="262128" indent="-262128">
              <a:buSzPct val="100000"/>
              <a:buChar char="•"/>
            </a:pPr>
            <a:r>
              <a:rPr lang="en-GB" altLang="en-US" sz="172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X-Ray, Item Relations Preview and evidence-based Departure Packs.</a:t>
            </a:r>
            <a:endParaRPr lang="en-GB" sz="1720" dirty="0"/>
          </a:p>
          <a:p>
            <a:pPr marL="262128" indent="-262128">
              <a:buSzPct val="100000"/>
              <a:buChar char="•"/>
            </a:pPr>
            <a:r>
              <a:rPr lang="en-GB" altLang="en-US" sz="172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Pages read the validated snapshot; they do not rescan Fabric.</a:t>
            </a:r>
            <a:endParaRPr lang="en-GB" sz="1720" dirty="0"/>
          </a:p>
        </p:txBody>
      </p:sp>
      <p:sp>
        <p:nvSpPr>
          <p:cNvPr id="7" name="Text 4"/>
          <p:cNvSpPr/>
          <p:nvPr/>
        </p:nvSpPr>
        <p:spPr>
          <a:xfrm>
            <a:off x="585216" y="5806440"/>
            <a:ext cx="7114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112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 Atlas 2.1.2 Overview; workspace figures are live evidence, not defaults.</a:t>
            </a:r>
            <a:endParaRPr lang="en-GB" sz="1120" dirty="0"/>
          </a:p>
        </p:txBody>
      </p:sp>
      <p:sp>
        <p:nvSpPr>
          <p:cNvPr id="8" name="Text 5"/>
          <p:cNvSpPr/>
          <p:nvPr/>
        </p:nvSpPr>
        <p:spPr>
          <a:xfrm>
            <a:off x="530352" y="6428232"/>
            <a:ext cx="1014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105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docs/screenshots/workspace-overview-v2.png</a:t>
            </a:r>
            <a:endParaRPr lang="en-GB" sz="1050" dirty="0"/>
          </a:p>
        </p:txBody>
      </p:sp>
      <p:sp>
        <p:nvSpPr>
          <p:cNvPr id="9" name="Text 6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GB" altLang="en-US" sz="105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GB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3774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1150" b="1" dirty="0">
                <a:solidFill>
                  <a:srgbClr val="1178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C4 ARCHITECTURE</a:t>
            </a:r>
            <a:endParaRPr lang="en-GB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548640"/>
            <a:ext cx="10972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275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Rayfin Functions collect. The browser validates and publishes.</a:t>
            </a:r>
            <a:endParaRPr lang="en-GB" sz="2750" dirty="0"/>
          </a:p>
        </p:txBody>
      </p:sp>
      <p:sp>
        <p:nvSpPr>
          <p:cNvPr id="4" name="Shape 2"/>
          <p:cNvSpPr/>
          <p:nvPr/>
        </p:nvSpPr>
        <p:spPr>
          <a:xfrm>
            <a:off x="438912" y="1389888"/>
            <a:ext cx="11320272" cy="4526280"/>
          </a:xfrm>
          <a:prstGeom prst="roundRect">
            <a:avLst>
              <a:gd name="adj" fmla="val 80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Fabric Atlas C4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194" y="1453896"/>
            <a:ext cx="11135708" cy="43982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971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600" b="1" dirty="0">
                <a:solidFill>
                  <a:srgbClr val="0C69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remains only for the Power BI scanner, PBIR-Legacy and Kusto gaps.</a:t>
            </a:r>
            <a:endParaRPr lang="en-GB" sz="1600" dirty="0"/>
          </a:p>
        </p:txBody>
      </p:sp>
      <p:sp>
        <p:nvSpPr>
          <p:cNvPr id="7" name="Text 4"/>
          <p:cNvSpPr/>
          <p:nvPr/>
        </p:nvSpPr>
        <p:spPr>
          <a:xfrm>
            <a:off x="530352" y="6428232"/>
            <a:ext cx="1014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105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docs/architecture.md</a:t>
            </a:r>
            <a:endParaRPr lang="en-GB" sz="1050" dirty="0"/>
          </a:p>
        </p:txBody>
      </p:sp>
      <p:sp>
        <p:nvSpPr>
          <p:cNvPr id="8" name="Text 5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GB" altLang="en-US" sz="105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GB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3774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1150" b="1" dirty="0">
                <a:solidFill>
                  <a:srgbClr val="1178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SYNCHRONIZATION PROCESS</a:t>
            </a:r>
            <a:endParaRPr lang="en-GB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548640"/>
            <a:ext cx="10972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275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Synchronization follows five stages and publishes the manifest last.</a:t>
            </a:r>
            <a:endParaRPr lang="en-GB" sz="2750" dirty="0"/>
          </a:p>
        </p:txBody>
      </p:sp>
      <p:sp>
        <p:nvSpPr>
          <p:cNvPr id="4" name="Shape 2"/>
          <p:cNvSpPr/>
          <p:nvPr/>
        </p:nvSpPr>
        <p:spPr>
          <a:xfrm>
            <a:off x="576072" y="2206523"/>
            <a:ext cx="1882330" cy="1285494"/>
          </a:xfrm>
          <a:prstGeom prst="roundRect">
            <a:avLst>
              <a:gd name="adj" fmla="val 5714"/>
            </a:avLst>
          </a:prstGeom>
          <a:solidFill>
            <a:srgbClr val="E3F7EF"/>
          </a:solidFill>
          <a:ln w="15240">
            <a:solidFill>
              <a:srgbClr val="11786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86257" y="2399348"/>
            <a:ext cx="1661960" cy="284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808" b="1" dirty="0">
                <a:solidFill>
                  <a:srgbClr val="0C69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Connect</a:t>
            </a:r>
            <a:endParaRPr lang="en-GB" sz="1808" dirty="0"/>
          </a:p>
        </p:txBody>
      </p:sp>
      <p:sp>
        <p:nvSpPr>
          <p:cNvPr id="6" name="Text 4"/>
          <p:cNvSpPr/>
          <p:nvPr/>
        </p:nvSpPr>
        <p:spPr>
          <a:xfrm>
            <a:off x="686257" y="2885999"/>
            <a:ext cx="1661960" cy="459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456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the</a:t>
            </a:r>
            <a:endParaRPr lang="en-GB" sz="1456" dirty="0"/>
          </a:p>
          <a:p>
            <a:pPr marL="0" indent="0" algn="ctr">
              <a:buNone/>
            </a:pPr>
            <a:r>
              <a:rPr lang="en-GB" altLang="en-US" sz="1456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</a:t>
            </a:r>
            <a:endParaRPr lang="en-GB" sz="1456" dirty="0"/>
          </a:p>
        </p:txBody>
      </p:sp>
      <p:sp>
        <p:nvSpPr>
          <p:cNvPr id="7" name="Shape 5"/>
          <p:cNvSpPr/>
          <p:nvPr/>
        </p:nvSpPr>
        <p:spPr>
          <a:xfrm>
            <a:off x="2504313" y="2849270"/>
            <a:ext cx="247917" cy="0"/>
          </a:xfrm>
          <a:prstGeom prst="line">
            <a:avLst/>
          </a:prstGeom>
          <a:noFill/>
          <a:ln w="22955">
            <a:solidFill>
              <a:srgbClr val="61616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2816504" y="2206523"/>
            <a:ext cx="1882330" cy="1285494"/>
          </a:xfrm>
          <a:prstGeom prst="roundRect">
            <a:avLst>
              <a:gd name="adj" fmla="val 5714"/>
            </a:avLst>
          </a:prstGeom>
          <a:solidFill>
            <a:srgbClr val="E3F7EF"/>
          </a:solidFill>
          <a:ln w="15240">
            <a:solidFill>
              <a:srgbClr val="11786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926690" y="2399348"/>
            <a:ext cx="1661960" cy="284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808" b="1" dirty="0">
                <a:solidFill>
                  <a:srgbClr val="0C69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Discover</a:t>
            </a:r>
            <a:endParaRPr lang="en-GB" sz="1808" dirty="0"/>
          </a:p>
        </p:txBody>
      </p:sp>
      <p:sp>
        <p:nvSpPr>
          <p:cNvPr id="10" name="Text 8"/>
          <p:cNvSpPr/>
          <p:nvPr/>
        </p:nvSpPr>
        <p:spPr>
          <a:xfrm>
            <a:off x="2926690" y="2885999"/>
            <a:ext cx="1661960" cy="459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456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</a:t>
            </a:r>
            <a:endParaRPr lang="en-GB" sz="1456" dirty="0"/>
          </a:p>
          <a:p>
            <a:pPr marL="0" indent="0" algn="ctr">
              <a:buNone/>
            </a:pPr>
            <a:r>
              <a:rPr lang="en-GB" altLang="en-US" sz="1456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</a:t>
            </a:r>
            <a:endParaRPr lang="en-GB" sz="1456" dirty="0"/>
          </a:p>
        </p:txBody>
      </p:sp>
      <p:sp>
        <p:nvSpPr>
          <p:cNvPr id="11" name="Shape 9"/>
          <p:cNvSpPr/>
          <p:nvPr/>
        </p:nvSpPr>
        <p:spPr>
          <a:xfrm>
            <a:off x="4744745" y="2849270"/>
            <a:ext cx="247917" cy="0"/>
          </a:xfrm>
          <a:prstGeom prst="line">
            <a:avLst/>
          </a:prstGeom>
          <a:noFill/>
          <a:ln w="22955">
            <a:solidFill>
              <a:srgbClr val="61616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056937" y="2206523"/>
            <a:ext cx="1882330" cy="1285494"/>
          </a:xfrm>
          <a:prstGeom prst="roundRect">
            <a:avLst>
              <a:gd name="adj" fmla="val 5714"/>
            </a:avLst>
          </a:prstGeom>
          <a:solidFill>
            <a:srgbClr val="E3F7EF"/>
          </a:solidFill>
          <a:ln w="15240">
            <a:solidFill>
              <a:srgbClr val="11786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167122" y="2399348"/>
            <a:ext cx="1661960" cy="284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808" b="1" dirty="0">
                <a:solidFill>
                  <a:srgbClr val="0C69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Collect</a:t>
            </a:r>
            <a:endParaRPr lang="en-GB" sz="1808" dirty="0"/>
          </a:p>
        </p:txBody>
      </p:sp>
      <p:sp>
        <p:nvSpPr>
          <p:cNvPr id="14" name="Text 12"/>
          <p:cNvSpPr/>
          <p:nvPr/>
        </p:nvSpPr>
        <p:spPr>
          <a:xfrm>
            <a:off x="5167122" y="2885999"/>
            <a:ext cx="1661960" cy="459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456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bounded</a:t>
            </a:r>
            <a:endParaRPr lang="en-GB" sz="1456" dirty="0"/>
          </a:p>
          <a:p>
            <a:pPr marL="0" indent="0" algn="ctr">
              <a:buNone/>
            </a:pPr>
            <a:r>
              <a:rPr lang="en-GB" altLang="en-US" sz="1456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collectors</a:t>
            </a:r>
            <a:endParaRPr lang="en-GB" sz="1456" dirty="0"/>
          </a:p>
        </p:txBody>
      </p:sp>
      <p:sp>
        <p:nvSpPr>
          <p:cNvPr id="15" name="Shape 13"/>
          <p:cNvSpPr/>
          <p:nvPr/>
        </p:nvSpPr>
        <p:spPr>
          <a:xfrm>
            <a:off x="6985178" y="2849270"/>
            <a:ext cx="247917" cy="0"/>
          </a:xfrm>
          <a:prstGeom prst="line">
            <a:avLst/>
          </a:prstGeom>
          <a:noFill/>
          <a:ln w="22955">
            <a:solidFill>
              <a:srgbClr val="61616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297369" y="2206523"/>
            <a:ext cx="1882330" cy="1285494"/>
          </a:xfrm>
          <a:prstGeom prst="roundRect">
            <a:avLst>
              <a:gd name="adj" fmla="val 5714"/>
            </a:avLst>
          </a:prstGeom>
          <a:solidFill>
            <a:srgbClr val="E3F7EF"/>
          </a:solidFill>
          <a:ln w="15240">
            <a:solidFill>
              <a:srgbClr val="11786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407554" y="2399348"/>
            <a:ext cx="1661960" cy="284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808" b="1" dirty="0">
                <a:solidFill>
                  <a:srgbClr val="0C69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Validate</a:t>
            </a:r>
            <a:endParaRPr lang="en-GB" sz="1808" dirty="0"/>
          </a:p>
        </p:txBody>
      </p:sp>
      <p:sp>
        <p:nvSpPr>
          <p:cNvPr id="18" name="Text 16"/>
          <p:cNvSpPr/>
          <p:nvPr/>
        </p:nvSpPr>
        <p:spPr>
          <a:xfrm>
            <a:off x="7407554" y="2885999"/>
            <a:ext cx="1661960" cy="459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456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and</a:t>
            </a:r>
            <a:endParaRPr lang="en-GB" sz="1456" dirty="0"/>
          </a:p>
          <a:p>
            <a:pPr marL="0" indent="0" algn="ctr">
              <a:buNone/>
            </a:pPr>
            <a:r>
              <a:rPr lang="en-GB" altLang="en-US" sz="1456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back</a:t>
            </a:r>
            <a:endParaRPr lang="en-GB" sz="1456" dirty="0"/>
          </a:p>
        </p:txBody>
      </p:sp>
      <p:sp>
        <p:nvSpPr>
          <p:cNvPr id="19" name="Shape 17"/>
          <p:cNvSpPr/>
          <p:nvPr/>
        </p:nvSpPr>
        <p:spPr>
          <a:xfrm>
            <a:off x="9225610" y="2849270"/>
            <a:ext cx="247917" cy="0"/>
          </a:xfrm>
          <a:prstGeom prst="line">
            <a:avLst/>
          </a:prstGeom>
          <a:noFill/>
          <a:ln w="22955">
            <a:solidFill>
              <a:srgbClr val="61616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9537802" y="2206523"/>
            <a:ext cx="1882330" cy="1285494"/>
          </a:xfrm>
          <a:prstGeom prst="roundRect">
            <a:avLst>
              <a:gd name="adj" fmla="val 5714"/>
            </a:avLst>
          </a:prstGeom>
          <a:solidFill>
            <a:srgbClr val="EFF6FC"/>
          </a:solidFill>
          <a:ln w="15240">
            <a:solidFill>
              <a:srgbClr val="0078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9647987" y="2399348"/>
            <a:ext cx="1661960" cy="284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808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Publish</a:t>
            </a:r>
            <a:endParaRPr lang="en-GB" sz="1808" dirty="0"/>
          </a:p>
        </p:txBody>
      </p:sp>
      <p:sp>
        <p:nvSpPr>
          <p:cNvPr id="22" name="Text 20"/>
          <p:cNvSpPr/>
          <p:nvPr/>
        </p:nvSpPr>
        <p:spPr>
          <a:xfrm>
            <a:off x="9647987" y="2885999"/>
            <a:ext cx="1661960" cy="459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456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 the</a:t>
            </a:r>
            <a:endParaRPr lang="en-GB" sz="1456" dirty="0"/>
          </a:p>
          <a:p>
            <a:pPr marL="0" indent="0" algn="ctr">
              <a:buNone/>
            </a:pPr>
            <a:r>
              <a:rPr lang="en-GB" altLang="en-US" sz="1456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manifest</a:t>
            </a:r>
            <a:endParaRPr lang="en-GB" sz="1456" dirty="0"/>
          </a:p>
        </p:txBody>
      </p:sp>
      <p:sp>
        <p:nvSpPr>
          <p:cNvPr id="23" name="Text 21"/>
          <p:cNvSpPr/>
          <p:nvPr/>
        </p:nvSpPr>
        <p:spPr>
          <a:xfrm>
            <a:off x="1586103" y="3941940"/>
            <a:ext cx="8998458" cy="266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506" b="1" dirty="0">
                <a:solidFill>
                  <a:srgbClr val="0C69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previous snapshot stays visible until the Workspace manifest is created.</a:t>
            </a:r>
            <a:endParaRPr lang="en-GB" sz="1506" dirty="0"/>
          </a:p>
        </p:txBody>
      </p:sp>
      <p:sp>
        <p:nvSpPr>
          <p:cNvPr id="24" name="Text 22"/>
          <p:cNvSpPr/>
          <p:nvPr/>
        </p:nvSpPr>
        <p:spPr>
          <a:xfrm>
            <a:off x="530352" y="6428232"/>
            <a:ext cx="1014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105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src/atlas/browser-collector-sync.ts · src/atlas/backend.ts</a:t>
            </a:r>
            <a:endParaRPr lang="en-GB" sz="1050" dirty="0"/>
          </a:p>
        </p:txBody>
      </p:sp>
      <p:sp>
        <p:nvSpPr>
          <p:cNvPr id="25" name="Text 23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GB" altLang="en-US" sz="105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GB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3774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1150" b="1" dirty="0">
                <a:solidFill>
                  <a:srgbClr val="1178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BOUNDED COLLECTION</a:t>
            </a:r>
            <a:endParaRPr lang="en-GB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548640"/>
            <a:ext cx="10972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275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Rayfin Functions process large workspaces without restarting the run.</a:t>
            </a:r>
            <a:endParaRPr lang="en-GB" sz="2750" dirty="0"/>
          </a:p>
        </p:txBody>
      </p:sp>
      <p:sp>
        <p:nvSpPr>
          <p:cNvPr id="4" name="Shape 2"/>
          <p:cNvSpPr/>
          <p:nvPr/>
        </p:nvSpPr>
        <p:spPr>
          <a:xfrm>
            <a:off x="1102309" y="3523183"/>
            <a:ext cx="6242152" cy="0"/>
          </a:xfrm>
          <a:prstGeom prst="line">
            <a:avLst/>
          </a:prstGeom>
          <a:noFill/>
          <a:ln w="23432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36701" y="3401339"/>
            <a:ext cx="243688" cy="243688"/>
          </a:xfrm>
          <a:prstGeom prst="roundRect">
            <a:avLst>
              <a:gd name="adj" fmla="val 50000"/>
            </a:avLst>
          </a:prstGeom>
          <a:solidFill>
            <a:srgbClr val="117865"/>
          </a:solidFill>
          <a:ln w="12700">
            <a:solidFill>
              <a:srgbClr val="11786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86739" y="3813734"/>
            <a:ext cx="543611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251" b="1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T0</a:t>
            </a:r>
            <a:endParaRPr lang="en-GB" sz="1251" dirty="0"/>
          </a:p>
        </p:txBody>
      </p:sp>
      <p:sp>
        <p:nvSpPr>
          <p:cNvPr id="7" name="Shape 5"/>
          <p:cNvSpPr/>
          <p:nvPr/>
        </p:nvSpPr>
        <p:spPr>
          <a:xfrm>
            <a:off x="455600" y="2126666"/>
            <a:ext cx="1405890" cy="824789"/>
          </a:xfrm>
          <a:prstGeom prst="roundRect">
            <a:avLst>
              <a:gd name="adj" fmla="val 9091"/>
            </a:avLst>
          </a:prstGeom>
          <a:solidFill>
            <a:srgbClr val="E3F7EF"/>
          </a:solidFill>
          <a:ln w="15240">
            <a:solidFill>
              <a:srgbClr val="11786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68071" y="2267255"/>
            <a:ext cx="1180948" cy="243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486" b="1" dirty="0">
                <a:solidFill>
                  <a:srgbClr val="0C69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</a:t>
            </a:r>
            <a:endParaRPr lang="en-GB" sz="1486" dirty="0"/>
          </a:p>
        </p:txBody>
      </p:sp>
      <p:sp>
        <p:nvSpPr>
          <p:cNvPr id="9" name="Text 7"/>
          <p:cNvSpPr/>
          <p:nvPr/>
        </p:nvSpPr>
        <p:spPr>
          <a:xfrm>
            <a:off x="568071" y="2567178"/>
            <a:ext cx="1180948" cy="403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107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Workspace and items</a:t>
            </a:r>
            <a:endParaRPr lang="en-GB" sz="1107" dirty="0"/>
          </a:p>
        </p:txBody>
      </p:sp>
      <p:sp>
        <p:nvSpPr>
          <p:cNvPr id="10" name="Shape 8"/>
          <p:cNvSpPr/>
          <p:nvPr/>
        </p:nvSpPr>
        <p:spPr>
          <a:xfrm>
            <a:off x="1158545" y="2970200"/>
            <a:ext cx="0" cy="403022"/>
          </a:xfrm>
          <a:prstGeom prst="line">
            <a:avLst/>
          </a:prstGeom>
          <a:noFill/>
          <a:ln w="23432">
            <a:solidFill>
              <a:srgbClr val="11786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564435" y="3401339"/>
            <a:ext cx="243688" cy="243688"/>
          </a:xfrm>
          <a:prstGeom prst="roundRect">
            <a:avLst>
              <a:gd name="adj" fmla="val 50000"/>
            </a:avLst>
          </a:prstGeom>
          <a:solidFill>
            <a:srgbClr val="117865"/>
          </a:solidFill>
          <a:ln w="12700">
            <a:solidFill>
              <a:srgbClr val="11786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414473" y="3813734"/>
            <a:ext cx="543611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251" b="1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T1</a:t>
            </a:r>
            <a:endParaRPr lang="en-GB" sz="1251" dirty="0"/>
          </a:p>
        </p:txBody>
      </p:sp>
      <p:sp>
        <p:nvSpPr>
          <p:cNvPr id="13" name="Shape 11"/>
          <p:cNvSpPr/>
          <p:nvPr/>
        </p:nvSpPr>
        <p:spPr>
          <a:xfrm>
            <a:off x="1983334" y="4216756"/>
            <a:ext cx="1405890" cy="824789"/>
          </a:xfrm>
          <a:prstGeom prst="roundRect">
            <a:avLst>
              <a:gd name="adj" fmla="val 9091"/>
            </a:avLst>
          </a:prstGeom>
          <a:solidFill>
            <a:srgbClr val="E3F7EF"/>
          </a:solidFill>
          <a:ln w="15240">
            <a:solidFill>
              <a:srgbClr val="11786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095805" y="4357345"/>
            <a:ext cx="1180948" cy="243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486" b="1" dirty="0">
                <a:solidFill>
                  <a:srgbClr val="0C69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</a:t>
            </a:r>
            <a:endParaRPr lang="en-GB" sz="1486" dirty="0"/>
          </a:p>
        </p:txBody>
      </p:sp>
      <p:sp>
        <p:nvSpPr>
          <p:cNvPr id="15" name="Text 13"/>
          <p:cNvSpPr/>
          <p:nvPr/>
        </p:nvSpPr>
        <p:spPr>
          <a:xfrm>
            <a:off x="2095805" y="4657268"/>
            <a:ext cx="1180948" cy="403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107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Collectors by item type</a:t>
            </a:r>
            <a:endParaRPr lang="en-GB" sz="1107" dirty="0"/>
          </a:p>
        </p:txBody>
      </p:sp>
      <p:sp>
        <p:nvSpPr>
          <p:cNvPr id="16" name="Shape 14"/>
          <p:cNvSpPr/>
          <p:nvPr/>
        </p:nvSpPr>
        <p:spPr>
          <a:xfrm>
            <a:off x="2686279" y="3654400"/>
            <a:ext cx="0" cy="524866"/>
          </a:xfrm>
          <a:prstGeom prst="line">
            <a:avLst/>
          </a:prstGeom>
          <a:noFill/>
          <a:ln w="23432">
            <a:solidFill>
              <a:srgbClr val="11786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092169" y="3401339"/>
            <a:ext cx="243688" cy="243688"/>
          </a:xfrm>
          <a:prstGeom prst="roundRect">
            <a:avLst>
              <a:gd name="adj" fmla="val 50000"/>
            </a:avLst>
          </a:prstGeom>
          <a:solidFill>
            <a:srgbClr val="117865"/>
          </a:solidFill>
          <a:ln w="12700">
            <a:solidFill>
              <a:srgbClr val="11786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942207" y="3813734"/>
            <a:ext cx="543611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251" b="1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T2</a:t>
            </a:r>
            <a:endParaRPr lang="en-GB" sz="1251" dirty="0"/>
          </a:p>
        </p:txBody>
      </p:sp>
      <p:sp>
        <p:nvSpPr>
          <p:cNvPr id="19" name="Shape 17"/>
          <p:cNvSpPr/>
          <p:nvPr/>
        </p:nvSpPr>
        <p:spPr>
          <a:xfrm>
            <a:off x="3511067" y="2126666"/>
            <a:ext cx="1405890" cy="824789"/>
          </a:xfrm>
          <a:prstGeom prst="roundRect">
            <a:avLst>
              <a:gd name="adj" fmla="val 9091"/>
            </a:avLst>
          </a:prstGeom>
          <a:solidFill>
            <a:srgbClr val="E3F7EF"/>
          </a:solidFill>
          <a:ln w="15240">
            <a:solidFill>
              <a:srgbClr val="11786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623539" y="2267255"/>
            <a:ext cx="1180948" cy="243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486" b="1" dirty="0">
                <a:solidFill>
                  <a:srgbClr val="0C69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 1</a:t>
            </a:r>
            <a:endParaRPr lang="en-GB" sz="1486" dirty="0"/>
          </a:p>
        </p:txBody>
      </p:sp>
      <p:sp>
        <p:nvSpPr>
          <p:cNvPr id="21" name="Text 19"/>
          <p:cNvSpPr/>
          <p:nvPr/>
        </p:nvSpPr>
        <p:spPr>
          <a:xfrm>
            <a:off x="3623539" y="2567178"/>
            <a:ext cx="1180948" cy="403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107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 to 4 IDs</a:t>
            </a:r>
            <a:endParaRPr lang="en-GB" sz="1107" dirty="0"/>
          </a:p>
        </p:txBody>
      </p:sp>
      <p:sp>
        <p:nvSpPr>
          <p:cNvPr id="22" name="Shape 20"/>
          <p:cNvSpPr/>
          <p:nvPr/>
        </p:nvSpPr>
        <p:spPr>
          <a:xfrm>
            <a:off x="4214012" y="2970200"/>
            <a:ext cx="0" cy="403022"/>
          </a:xfrm>
          <a:prstGeom prst="line">
            <a:avLst/>
          </a:prstGeom>
          <a:noFill/>
          <a:ln w="23432">
            <a:solidFill>
              <a:srgbClr val="11786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619902" y="3401339"/>
            <a:ext cx="243688" cy="243688"/>
          </a:xfrm>
          <a:prstGeom prst="roundRect">
            <a:avLst>
              <a:gd name="adj" fmla="val 50000"/>
            </a:avLst>
          </a:prstGeom>
          <a:solidFill>
            <a:srgbClr val="117865"/>
          </a:solidFill>
          <a:ln w="12700">
            <a:solidFill>
              <a:srgbClr val="11786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469941" y="3813734"/>
            <a:ext cx="543611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251" b="1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T3</a:t>
            </a:r>
            <a:endParaRPr lang="en-GB" sz="1251" dirty="0"/>
          </a:p>
        </p:txBody>
      </p:sp>
      <p:sp>
        <p:nvSpPr>
          <p:cNvPr id="25" name="Shape 23"/>
          <p:cNvSpPr/>
          <p:nvPr/>
        </p:nvSpPr>
        <p:spPr>
          <a:xfrm>
            <a:off x="5038801" y="4216756"/>
            <a:ext cx="1405890" cy="824789"/>
          </a:xfrm>
          <a:prstGeom prst="roundRect">
            <a:avLst>
              <a:gd name="adj" fmla="val 9091"/>
            </a:avLst>
          </a:prstGeom>
          <a:solidFill>
            <a:srgbClr val="E3F7EF"/>
          </a:solidFill>
          <a:ln w="15240">
            <a:solidFill>
              <a:srgbClr val="11786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5151272" y="4357345"/>
            <a:ext cx="1180948" cy="243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486" b="1" dirty="0">
                <a:solidFill>
                  <a:srgbClr val="0C69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gaps</a:t>
            </a:r>
            <a:endParaRPr lang="en-GB" sz="1486" dirty="0"/>
          </a:p>
        </p:txBody>
      </p:sp>
      <p:sp>
        <p:nvSpPr>
          <p:cNvPr id="27" name="Text 25"/>
          <p:cNvSpPr/>
          <p:nvPr/>
        </p:nvSpPr>
        <p:spPr>
          <a:xfrm>
            <a:off x="5151272" y="4657268"/>
            <a:ext cx="1180948" cy="403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107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 remaining gaps</a:t>
            </a:r>
            <a:endParaRPr lang="en-GB" sz="1107" dirty="0"/>
          </a:p>
        </p:txBody>
      </p:sp>
      <p:sp>
        <p:nvSpPr>
          <p:cNvPr id="28" name="Shape 26"/>
          <p:cNvSpPr/>
          <p:nvPr/>
        </p:nvSpPr>
        <p:spPr>
          <a:xfrm>
            <a:off x="5741746" y="3654400"/>
            <a:ext cx="0" cy="524866"/>
          </a:xfrm>
          <a:prstGeom prst="line">
            <a:avLst/>
          </a:prstGeom>
          <a:noFill/>
          <a:ln w="23432">
            <a:solidFill>
              <a:srgbClr val="11786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7147636" y="3401339"/>
            <a:ext cx="243688" cy="24368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997675" y="3813734"/>
            <a:ext cx="543611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251" b="1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T4</a:t>
            </a:r>
            <a:endParaRPr lang="en-GB" sz="1251" dirty="0"/>
          </a:p>
        </p:txBody>
      </p:sp>
      <p:sp>
        <p:nvSpPr>
          <p:cNvPr id="31" name="Shape 29"/>
          <p:cNvSpPr/>
          <p:nvPr/>
        </p:nvSpPr>
        <p:spPr>
          <a:xfrm>
            <a:off x="6566535" y="2126666"/>
            <a:ext cx="1405890" cy="824789"/>
          </a:xfrm>
          <a:prstGeom prst="roundRect">
            <a:avLst>
              <a:gd name="adj" fmla="val 9091"/>
            </a:avLst>
          </a:prstGeom>
          <a:solidFill>
            <a:srgbClr val="EFF6FC"/>
          </a:solidFill>
          <a:ln w="15240">
            <a:solidFill>
              <a:srgbClr val="0078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679006" y="2267255"/>
            <a:ext cx="1180948" cy="243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486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</a:t>
            </a:r>
            <a:endParaRPr lang="en-GB" sz="1486" dirty="0"/>
          </a:p>
        </p:txBody>
      </p:sp>
      <p:sp>
        <p:nvSpPr>
          <p:cNvPr id="33" name="Text 31"/>
          <p:cNvSpPr/>
          <p:nvPr/>
        </p:nvSpPr>
        <p:spPr>
          <a:xfrm>
            <a:off x="6679006" y="2567178"/>
            <a:ext cx="1180948" cy="403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107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→ Publish</a:t>
            </a:r>
            <a:endParaRPr lang="en-GB" sz="1107" dirty="0"/>
          </a:p>
        </p:txBody>
      </p:sp>
      <p:sp>
        <p:nvSpPr>
          <p:cNvPr id="34" name="Shape 32"/>
          <p:cNvSpPr/>
          <p:nvPr/>
        </p:nvSpPr>
        <p:spPr>
          <a:xfrm>
            <a:off x="7269480" y="2970200"/>
            <a:ext cx="0" cy="403022"/>
          </a:xfrm>
          <a:prstGeom prst="line">
            <a:avLst/>
          </a:prstGeom>
          <a:noFill/>
          <a:ln w="23432">
            <a:solidFill>
              <a:srgbClr val="0078D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1083564" y="5060290"/>
            <a:ext cx="6467094" cy="487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271" b="1" dirty="0">
                <a:solidFill>
                  <a:srgbClr val="0C69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invocation has bounded time, attempts, pages and response size.</a:t>
            </a:r>
            <a:endParaRPr lang="en-GB" sz="1271" dirty="0"/>
          </a:p>
          <a:p>
            <a:pPr marL="0" indent="0" algn="ctr">
              <a:buNone/>
            </a:pPr>
            <a:r>
              <a:rPr lang="en-GB" altLang="en-US" sz="1271" b="1" dirty="0">
                <a:solidFill>
                  <a:srgbClr val="0C69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Completed evidence is retained while remaining work continues.</a:t>
            </a:r>
            <a:endParaRPr lang="en-GB" sz="1271" dirty="0"/>
          </a:p>
        </p:txBody>
      </p:sp>
      <p:sp>
        <p:nvSpPr>
          <p:cNvPr id="36" name="Text 34"/>
          <p:cNvSpPr/>
          <p:nvPr/>
        </p:nvSpPr>
        <p:spPr>
          <a:xfrm>
            <a:off x="8266176" y="1673352"/>
            <a:ext cx="3264408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43840" indent="-243840">
              <a:buSzPct val="100000"/>
              <a:buChar char="•"/>
            </a:pPr>
            <a:r>
              <a:rPr lang="en-GB" altLang="en-US" sz="16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creates the workspace and item plan.</a:t>
            </a:r>
            <a:endParaRPr lang="en-GB" sz="1600" dirty="0"/>
          </a:p>
          <a:p>
            <a:pPr marL="243840" indent="-243840">
              <a:buSzPct val="100000"/>
              <a:buChar char="•"/>
            </a:pPr>
            <a:r>
              <a:rPr lang="en-GB" altLang="en-US" sz="16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Rayfin collectors handle Ontology 2.0, Item Relations, KQL, SQL and Power BI.</a:t>
            </a:r>
            <a:endParaRPr lang="en-GB" sz="1600" dirty="0"/>
          </a:p>
          <a:p>
            <a:pPr marL="243840" indent="-243840">
              <a:buSzPct val="100000"/>
              <a:buChar char="•"/>
            </a:pPr>
            <a:r>
              <a:rPr lang="en-GB" altLang="en-US" sz="16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runs only the requested scanner, PBIR-Legacy and Kusto gaps.</a:t>
            </a:r>
            <a:endParaRPr lang="en-GB" sz="1600" dirty="0"/>
          </a:p>
        </p:txBody>
      </p:sp>
      <p:sp>
        <p:nvSpPr>
          <p:cNvPr id="37" name="Text 35"/>
          <p:cNvSpPr/>
          <p:nvPr/>
        </p:nvSpPr>
        <p:spPr>
          <a:xfrm>
            <a:off x="530352" y="6428232"/>
            <a:ext cx="1014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105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src/atlas/browser-collector-sync.ts · rayfin/functions/</a:t>
            </a:r>
            <a:endParaRPr lang="en-GB" sz="1050" dirty="0"/>
          </a:p>
        </p:txBody>
      </p:sp>
      <p:sp>
        <p:nvSpPr>
          <p:cNvPr id="38" name="Text 36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GB" altLang="en-US" sz="105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GB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3774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1150" b="1" dirty="0">
                <a:solidFill>
                  <a:srgbClr val="1178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SNAPSHOTS AND DATA MODEL</a:t>
            </a:r>
            <a:endParaRPr lang="en-GB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548640"/>
            <a:ext cx="10972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275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Workspace manifest publishes only a snapshot Atlas can read back.</a:t>
            </a:r>
            <a:endParaRPr lang="en-GB" sz="2750" dirty="0"/>
          </a:p>
        </p:txBody>
      </p:sp>
      <p:sp>
        <p:nvSpPr>
          <p:cNvPr id="4" name="Shape 2"/>
          <p:cNvSpPr/>
          <p:nvPr/>
        </p:nvSpPr>
        <p:spPr>
          <a:xfrm>
            <a:off x="737807" y="2430772"/>
            <a:ext cx="1973047" cy="1456296"/>
          </a:xfrm>
          <a:prstGeom prst="roundRect">
            <a:avLst>
              <a:gd name="adj" fmla="val 5161"/>
            </a:avLst>
          </a:prstGeom>
          <a:solidFill>
            <a:srgbClr val="E3F7EF"/>
          </a:solidFill>
          <a:ln w="15240">
            <a:solidFill>
              <a:srgbClr val="11786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59947" y="2609286"/>
            <a:ext cx="319446" cy="253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541" b="1" dirty="0">
                <a:solidFill>
                  <a:srgbClr val="0C69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GB" sz="1541" dirty="0"/>
          </a:p>
        </p:txBody>
      </p:sp>
      <p:sp>
        <p:nvSpPr>
          <p:cNvPr id="6" name="Text 4"/>
          <p:cNvSpPr/>
          <p:nvPr/>
        </p:nvSpPr>
        <p:spPr>
          <a:xfrm>
            <a:off x="1094834" y="2524727"/>
            <a:ext cx="1503274" cy="704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469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candidate rows</a:t>
            </a:r>
            <a:endParaRPr lang="en-GB" sz="1469" dirty="0"/>
          </a:p>
        </p:txBody>
      </p:sp>
      <p:sp>
        <p:nvSpPr>
          <p:cNvPr id="7" name="Text 5"/>
          <p:cNvSpPr/>
          <p:nvPr/>
        </p:nvSpPr>
        <p:spPr>
          <a:xfrm>
            <a:off x="906925" y="3257573"/>
            <a:ext cx="1634810" cy="51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182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snapshotId on all synchronized entities</a:t>
            </a:r>
            <a:endParaRPr lang="en-GB" sz="1182" dirty="0"/>
          </a:p>
        </p:txBody>
      </p:sp>
      <p:sp>
        <p:nvSpPr>
          <p:cNvPr id="8" name="Shape 6"/>
          <p:cNvSpPr/>
          <p:nvPr/>
        </p:nvSpPr>
        <p:spPr>
          <a:xfrm>
            <a:off x="2757830" y="3154223"/>
            <a:ext cx="366423" cy="0"/>
          </a:xfrm>
          <a:prstGeom prst="line">
            <a:avLst/>
          </a:prstGeom>
          <a:noFill/>
          <a:ln w="23489">
            <a:solidFill>
              <a:srgbClr val="11786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199417" y="2430772"/>
            <a:ext cx="1973047" cy="1456296"/>
          </a:xfrm>
          <a:prstGeom prst="roundRect">
            <a:avLst>
              <a:gd name="adj" fmla="val 5161"/>
            </a:avLst>
          </a:prstGeom>
          <a:solidFill>
            <a:srgbClr val="E3F7EF"/>
          </a:solidFill>
          <a:ln w="15240">
            <a:solidFill>
              <a:srgbClr val="11786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321558" y="2609286"/>
            <a:ext cx="319446" cy="253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541" b="1" dirty="0">
                <a:solidFill>
                  <a:srgbClr val="0C69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GB" sz="1541" dirty="0"/>
          </a:p>
        </p:txBody>
      </p:sp>
      <p:sp>
        <p:nvSpPr>
          <p:cNvPr id="11" name="Text 9"/>
          <p:cNvSpPr/>
          <p:nvPr/>
        </p:nvSpPr>
        <p:spPr>
          <a:xfrm>
            <a:off x="3556445" y="2524727"/>
            <a:ext cx="1503274" cy="704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469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back and validate</a:t>
            </a:r>
            <a:endParaRPr lang="en-GB" sz="1469" dirty="0"/>
          </a:p>
        </p:txBody>
      </p:sp>
      <p:sp>
        <p:nvSpPr>
          <p:cNvPr id="12" name="Text 10"/>
          <p:cNvSpPr/>
          <p:nvPr/>
        </p:nvSpPr>
        <p:spPr>
          <a:xfrm>
            <a:off x="3368535" y="3257573"/>
            <a:ext cx="1634810" cy="51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182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Writer, counts, chunks and reconstructed catalog</a:t>
            </a:r>
            <a:endParaRPr lang="en-GB" sz="1182" dirty="0"/>
          </a:p>
        </p:txBody>
      </p:sp>
      <p:sp>
        <p:nvSpPr>
          <p:cNvPr id="13" name="Shape 11"/>
          <p:cNvSpPr/>
          <p:nvPr/>
        </p:nvSpPr>
        <p:spPr>
          <a:xfrm>
            <a:off x="5219441" y="3154223"/>
            <a:ext cx="366423" cy="0"/>
          </a:xfrm>
          <a:prstGeom prst="line">
            <a:avLst/>
          </a:prstGeom>
          <a:noFill/>
          <a:ln w="23489">
            <a:solidFill>
              <a:srgbClr val="11786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661028" y="2430772"/>
            <a:ext cx="1973047" cy="1456296"/>
          </a:xfrm>
          <a:prstGeom prst="roundRect">
            <a:avLst>
              <a:gd name="adj" fmla="val 5161"/>
            </a:avLst>
          </a:prstGeom>
          <a:solidFill>
            <a:srgbClr val="EFF6FC"/>
          </a:solidFill>
          <a:ln w="15240">
            <a:solidFill>
              <a:srgbClr val="0078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783169" y="2609286"/>
            <a:ext cx="319446" cy="253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541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GB" sz="1541" dirty="0"/>
          </a:p>
        </p:txBody>
      </p:sp>
      <p:sp>
        <p:nvSpPr>
          <p:cNvPr id="16" name="Text 14"/>
          <p:cNvSpPr/>
          <p:nvPr/>
        </p:nvSpPr>
        <p:spPr>
          <a:xfrm>
            <a:off x="6018055" y="2524727"/>
            <a:ext cx="1503274" cy="704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469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Workspace manifest</a:t>
            </a:r>
            <a:endParaRPr lang="en-GB" sz="1469" dirty="0"/>
          </a:p>
        </p:txBody>
      </p:sp>
      <p:sp>
        <p:nvSpPr>
          <p:cNvPr id="17" name="Text 15"/>
          <p:cNvSpPr/>
          <p:nvPr/>
        </p:nvSpPr>
        <p:spPr>
          <a:xfrm>
            <a:off x="5830146" y="3257573"/>
            <a:ext cx="1634810" cy="51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182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new snapshot becomes visible</a:t>
            </a:r>
            <a:endParaRPr lang="en-GB" sz="1182" dirty="0"/>
          </a:p>
        </p:txBody>
      </p:sp>
      <p:sp>
        <p:nvSpPr>
          <p:cNvPr id="18" name="Shape 16"/>
          <p:cNvSpPr/>
          <p:nvPr/>
        </p:nvSpPr>
        <p:spPr>
          <a:xfrm>
            <a:off x="1348511" y="4394424"/>
            <a:ext cx="5825185" cy="80801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611584" y="4572937"/>
            <a:ext cx="5299039" cy="48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325" b="1" dirty="0">
                <a:solidFill>
                  <a:srgbClr val="0C69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 before the manifest → candidate rows stay invisible and readers keep the previous snapshot.</a:t>
            </a:r>
            <a:endParaRPr lang="en-GB" sz="1325" dirty="0"/>
          </a:p>
        </p:txBody>
      </p:sp>
      <p:sp>
        <p:nvSpPr>
          <p:cNvPr id="20" name="Text 18"/>
          <p:cNvSpPr/>
          <p:nvPr/>
        </p:nvSpPr>
        <p:spPr>
          <a:xfrm>
            <a:off x="8257032" y="1746504"/>
            <a:ext cx="3291840" cy="3255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43840" indent="-243840">
              <a:buSzPct val="100000"/>
              <a:buChar char="•"/>
            </a:pPr>
            <a:r>
              <a:rPr lang="en-GB" altLang="en-US" sz="16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Child rows use one new snapshotId.</a:t>
            </a:r>
            <a:endParaRPr lang="en-GB" sz="1600" dirty="0"/>
          </a:p>
          <a:p>
            <a:pPr marL="243840" indent="-243840">
              <a:buSzPct val="100000"/>
              <a:buChar char="•"/>
            </a:pPr>
            <a:r>
              <a:rPr lang="en-GB" altLang="en-US" sz="16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Read-back uses the same path as application startup.</a:t>
            </a:r>
            <a:endParaRPr lang="en-GB" sz="1600" dirty="0"/>
          </a:p>
          <a:p>
            <a:pPr marL="243840" indent="-243840">
              <a:buSzPct val="100000"/>
              <a:buChar char="•"/>
            </a:pPr>
            <a:r>
              <a:rPr lang="en-GB" altLang="en-US" sz="16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Workspace is written last and acts as the visibility switch.</a:t>
            </a:r>
            <a:endParaRPr lang="en-GB" sz="1600" dirty="0"/>
          </a:p>
          <a:p>
            <a:pPr marL="243840" indent="-243840">
              <a:buSzPct val="100000"/>
              <a:buChar char="•"/>
            </a:pPr>
            <a:r>
              <a:rPr lang="en-GB" altLang="en-US" sz="16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Workspace Hub combines the manifest with persisted SyncRun status.</a:t>
            </a:r>
            <a:endParaRPr lang="en-GB" sz="1600" dirty="0"/>
          </a:p>
        </p:txBody>
      </p:sp>
      <p:sp>
        <p:nvSpPr>
          <p:cNvPr id="21" name="Text 19"/>
          <p:cNvSpPr/>
          <p:nvPr/>
        </p:nvSpPr>
        <p:spPr>
          <a:xfrm>
            <a:off x="530352" y="6428232"/>
            <a:ext cx="1014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105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docs/data-model.md · src/atlas/backend.ts</a:t>
            </a:r>
            <a:endParaRPr lang="en-GB" sz="1050" dirty="0"/>
          </a:p>
        </p:txBody>
      </p:sp>
      <p:sp>
        <p:nvSpPr>
          <p:cNvPr id="22" name="Text 20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GB" altLang="en-US" sz="105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GB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3774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1150" b="1" dirty="0">
                <a:solidFill>
                  <a:srgbClr val="1178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RAYFIN ENTITY MODEL</a:t>
            </a:r>
            <a:endParaRPr lang="en-GB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548640"/>
            <a:ext cx="10972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275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Rayfin receives twenty-six entity classes across four lifetimes.</a:t>
            </a:r>
            <a:endParaRPr lang="en-GB" sz="2750" dirty="0"/>
          </a:p>
        </p:txBody>
      </p:sp>
      <p:sp>
        <p:nvSpPr>
          <p:cNvPr id="4" name="Text 2"/>
          <p:cNvSpPr/>
          <p:nvPr/>
        </p:nvSpPr>
        <p:spPr>
          <a:xfrm>
            <a:off x="749808" y="16733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2100" b="1" dirty="0">
                <a:solidFill>
                  <a:srgbClr val="0C69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Snapshot catalog</a:t>
            </a:r>
            <a:endParaRPr lang="en-GB" sz="2100" dirty="0"/>
          </a:p>
        </p:txBody>
      </p:sp>
      <p:sp>
        <p:nvSpPr>
          <p:cNvPr id="5" name="Text 3"/>
          <p:cNvSpPr/>
          <p:nvPr/>
        </p:nvSpPr>
        <p:spPr>
          <a:xfrm>
            <a:off x="749808" y="2121408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17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Workspace, FabricItem, LineageEdge, Principal,</a:t>
            </a:r>
            <a:endParaRPr lang="en-GB" sz="1700" dirty="0"/>
          </a:p>
          <a:p>
            <a:pPr marL="0" indent="0" algn="l">
              <a:buNone/>
            </a:pPr>
            <a:r>
              <a:rPr lang="en-GB" altLang="en-US" sz="17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AccessGrant, JobRun and ConfigEntry</a:t>
            </a:r>
            <a:endParaRPr lang="en-GB" sz="1700" dirty="0"/>
          </a:p>
        </p:txBody>
      </p:sp>
      <p:sp>
        <p:nvSpPr>
          <p:cNvPr id="6" name="Text 4"/>
          <p:cNvSpPr/>
          <p:nvPr/>
        </p:nvSpPr>
        <p:spPr>
          <a:xfrm>
            <a:off x="749808" y="30449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2100" b="1" dirty="0">
                <a:solidFill>
                  <a:srgbClr val="0C69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 and evidence state</a:t>
            </a:r>
            <a:endParaRPr lang="en-GB" sz="2100" dirty="0"/>
          </a:p>
        </p:txBody>
      </p:sp>
      <p:sp>
        <p:nvSpPr>
          <p:cNvPr id="7" name="Text 5"/>
          <p:cNvSpPr/>
          <p:nvPr/>
        </p:nvSpPr>
        <p:spPr>
          <a:xfrm>
            <a:off x="749808" y="3493008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17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 runs, tasks, commands, payload records and evidence snapshots</a:t>
            </a:r>
            <a:endParaRPr lang="en-GB" sz="1700" dirty="0"/>
          </a:p>
        </p:txBody>
      </p:sp>
      <p:sp>
        <p:nvSpPr>
          <p:cNvPr id="8" name="Text 6"/>
          <p:cNvSpPr/>
          <p:nvPr/>
        </p:nvSpPr>
        <p:spPr>
          <a:xfrm>
            <a:off x="6144768" y="16733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21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control state</a:t>
            </a:r>
            <a:endParaRPr lang="en-GB" sz="2100" dirty="0"/>
          </a:p>
        </p:txBody>
      </p:sp>
      <p:sp>
        <p:nvSpPr>
          <p:cNvPr id="9" name="Text 7"/>
          <p:cNvSpPr/>
          <p:nvPr/>
        </p:nvSpPr>
        <p:spPr>
          <a:xfrm>
            <a:off x="6144768" y="2121408"/>
            <a:ext cx="4736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17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Comment, policies, exceptions, WorkspaceScope and synchronizer authority</a:t>
            </a:r>
            <a:endParaRPr lang="en-GB" sz="1700" dirty="0"/>
          </a:p>
        </p:txBody>
      </p:sp>
      <p:sp>
        <p:nvSpPr>
          <p:cNvPr id="10" name="Text 8"/>
          <p:cNvSpPr/>
          <p:nvPr/>
        </p:nvSpPr>
        <p:spPr>
          <a:xfrm>
            <a:off x="6144768" y="30449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21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state</a:t>
            </a:r>
            <a:endParaRPr lang="en-GB" sz="2100" dirty="0"/>
          </a:p>
        </p:txBody>
      </p:sp>
      <p:sp>
        <p:nvSpPr>
          <p:cNvPr id="11" name="Text 9"/>
          <p:cNvSpPr/>
          <p:nvPr/>
        </p:nvSpPr>
        <p:spPr>
          <a:xfrm>
            <a:off x="6144768" y="3493008"/>
            <a:ext cx="47365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16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SavedView, AccessReview, AccessReviewEvent and FindingAck</a:t>
            </a:r>
            <a:endParaRPr lang="en-GB" sz="1650" dirty="0"/>
          </a:p>
          <a:p>
            <a:pPr marL="0" indent="0" algn="l">
              <a:buNone/>
            </a:pPr>
            <a:r>
              <a:rPr lang="en-GB" altLang="en-US" sz="165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 filtered by user_id.</a:t>
            </a:r>
            <a:endParaRPr lang="en-GB" sz="1650" dirty="0"/>
          </a:p>
        </p:txBody>
      </p:sp>
      <p:sp>
        <p:nvSpPr>
          <p:cNvPr id="12" name="Text 10"/>
          <p:cNvSpPr/>
          <p:nvPr/>
        </p:nvSpPr>
        <p:spPr>
          <a:xfrm>
            <a:off x="758952" y="49560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800" b="1" dirty="0">
                <a:solidFill>
                  <a:srgbClr val="0C69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entity classes define the database schema and the authorization boundary.</a:t>
            </a:r>
            <a:endParaRPr lang="en-GB" sz="1800" dirty="0"/>
          </a:p>
        </p:txBody>
      </p:sp>
      <p:sp>
        <p:nvSpPr>
          <p:cNvPr id="13" name="Text 11"/>
          <p:cNvSpPr/>
          <p:nvPr/>
        </p:nvSpPr>
        <p:spPr>
          <a:xfrm>
            <a:off x="530352" y="6428232"/>
            <a:ext cx="1014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105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rayfin/data/schema.ts</a:t>
            </a:r>
            <a:endParaRPr lang="en-GB" sz="1050" dirty="0"/>
          </a:p>
        </p:txBody>
      </p:sp>
      <p:sp>
        <p:nvSpPr>
          <p:cNvPr id="14" name="Text 12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GB" altLang="en-US" sz="105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GB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37744"/>
            <a:ext cx="4114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17865"/>
                </a:solidFill>
                <a:latin typeface="Segoe UI"/>
              </a:rPr>
              <a:t>CORE LOGICAL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48640"/>
            <a:ext cx="11018520" cy="8412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50" b="1">
                <a:solidFill>
                  <a:srgbClr val="242424"/>
                </a:solidFill>
                <a:latin typeface="Segoe UI"/>
              </a:rPr>
              <a:t>The core UML shows snapshot entities and logical associations.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72184"/>
            <a:ext cx="7726679" cy="4443984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1-u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732" y="1554480"/>
            <a:ext cx="4908175" cy="42793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57616" y="1673352"/>
            <a:ext cx="3227832" cy="4069080"/>
          </a:xfrm>
          <a:prstGeom prst="rect">
            <a:avLst/>
          </a:prstGeom>
          <a:noFill/>
        </p:spPr>
        <p:txBody>
          <a:bodyPr wrap="square" lIns="36576" tIns="0" rIns="0" bIns="0">
            <a:spAutoFit/>
          </a:bodyPr>
          <a:lstStyle/>
          <a:p>
            <a:pPr>
              <a:buChar char="•"/>
              <a:defRPr sz="1550">
                <a:solidFill>
                  <a:srgbClr val="242424"/>
                </a:solidFill>
                <a:latin typeface="Segoe UI"/>
              </a:defRPr>
            </a:pPr>
            <a:r>
              <a:t>Selected properties mirror the core TypeScript entities.</a:t>
            </a:r>
          </a:p>
          <a:p>
            <a:pPr>
              <a:buChar char="•"/>
              <a:defRPr sz="1550">
                <a:solidFill>
                  <a:srgbClr val="242424"/>
                </a:solidFill>
                <a:latin typeface="Segoe UI"/>
              </a:defRPr>
            </a:pPr>
            <a:r>
              <a:t>Workspace publishes a manifest; FabricItem anchors item evidence.</a:t>
            </a:r>
          </a:p>
          <a:p>
            <a:pPr>
              <a:buChar char="•"/>
              <a:defRPr sz="1550">
                <a:solidFill>
                  <a:srgbClr val="242424"/>
                </a:solidFill>
                <a:latin typeface="Segoe UI"/>
              </a:defRPr>
            </a:pPr>
            <a:r>
              <a:t>Additional v2 sync and evidence entities are grouped outside this core 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428232"/>
            <a:ext cx="1019556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16161"/>
                </a:solidFill>
                <a:latin typeface="Segoe UI"/>
              </a:rPr>
              <a:t>Source: rayfin/data/*.ts (core entities)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616161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37744"/>
            <a:ext cx="4389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17865"/>
                </a:solidFill>
                <a:latin typeface="Segoe UI"/>
              </a:rPr>
              <a:t>CORE PHYSICAL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48640"/>
            <a:ext cx="11018520" cy="7863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242424"/>
                </a:solidFill>
                <a:latin typeface="Segoe UI"/>
              </a:rPr>
              <a:t>The MPD shows the fifteen core MSSQL tables and logical links.</a:t>
            </a:r>
          </a:p>
        </p:txBody>
      </p:sp>
      <p:pic>
        <p:nvPicPr>
          <p:cNvPr id="4" name="Picture 3" descr="04-mpd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794597"/>
            <a:ext cx="11420856" cy="36254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925312"/>
            <a:ext cx="10826496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0" b="1">
                <a:solidFill>
                  <a:srgbClr val="117865"/>
                </a:solidFill>
                <a:latin typeface="Segoe UI"/>
              </a:rPr>
              <a:t>Fabric Atlas 2.1 keeps eleven sync, scope and evidence tables outside this core 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28232"/>
            <a:ext cx="1019556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16161"/>
                </a:solidFill>
                <a:latin typeface="Segoe UI"/>
              </a:rPr>
              <a:t>Source: rayfin/data/schema.ts · @microsoft/rayfin-core 1.36.2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616161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3774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1150" b="1" dirty="0">
                <a:solidFill>
                  <a:srgbClr val="1178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RAYFIN SCHEMA GENERATION</a:t>
            </a:r>
            <a:endParaRPr lang="en-GB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548640"/>
            <a:ext cx="10972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275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Rayfin turns decorated TypeScript classes into the Fabric SQL data model.</a:t>
            </a:r>
            <a:endParaRPr lang="en-GB" sz="2750" dirty="0"/>
          </a:p>
        </p:txBody>
      </p:sp>
      <p:sp>
        <p:nvSpPr>
          <p:cNvPr id="4" name="Shape 2"/>
          <p:cNvSpPr/>
          <p:nvPr/>
        </p:nvSpPr>
        <p:spPr>
          <a:xfrm>
            <a:off x="690829" y="1764198"/>
            <a:ext cx="1926069" cy="892569"/>
          </a:xfrm>
          <a:prstGeom prst="roundRect">
            <a:avLst>
              <a:gd name="adj" fmla="val 8421"/>
            </a:avLst>
          </a:prstGeom>
          <a:solidFill>
            <a:srgbClr val="E3F7EF"/>
          </a:solidFill>
          <a:ln w="15240">
            <a:solidFill>
              <a:srgbClr val="11786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41157" y="1858152"/>
            <a:ext cx="1625415" cy="507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562" b="1" dirty="0">
                <a:solidFill>
                  <a:srgbClr val="0C69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</a:t>
            </a:r>
            <a:endParaRPr lang="en-GB" sz="1562" dirty="0"/>
          </a:p>
          <a:p>
            <a:pPr marL="0" indent="0" algn="ctr">
              <a:buNone/>
            </a:pPr>
            <a:r>
              <a:rPr lang="en-GB" altLang="en-US" sz="1562" b="1" dirty="0">
                <a:solidFill>
                  <a:srgbClr val="0C69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entities</a:t>
            </a:r>
            <a:endParaRPr lang="en-GB" sz="1562" dirty="0"/>
          </a:p>
        </p:txBody>
      </p:sp>
      <p:sp>
        <p:nvSpPr>
          <p:cNvPr id="6" name="Text 4"/>
          <p:cNvSpPr/>
          <p:nvPr/>
        </p:nvSpPr>
        <p:spPr>
          <a:xfrm>
            <a:off x="841157" y="2384298"/>
            <a:ext cx="1625415" cy="31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151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@entity · fields · policies</a:t>
            </a:r>
            <a:endParaRPr lang="en-GB" sz="1151" dirty="0"/>
          </a:p>
        </p:txBody>
      </p:sp>
      <p:sp>
        <p:nvSpPr>
          <p:cNvPr id="7" name="Shape 5"/>
          <p:cNvSpPr/>
          <p:nvPr/>
        </p:nvSpPr>
        <p:spPr>
          <a:xfrm>
            <a:off x="2673271" y="2215180"/>
            <a:ext cx="488564" cy="0"/>
          </a:xfrm>
          <a:prstGeom prst="line">
            <a:avLst/>
          </a:prstGeom>
          <a:noFill/>
          <a:ln w="23489">
            <a:solidFill>
              <a:srgbClr val="11786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227603" y="1764198"/>
            <a:ext cx="1362342" cy="892569"/>
          </a:xfrm>
          <a:prstGeom prst="roundRect">
            <a:avLst>
              <a:gd name="adj" fmla="val 8421"/>
            </a:avLst>
          </a:prstGeom>
          <a:solidFill>
            <a:srgbClr val="E3F7EF"/>
          </a:solidFill>
          <a:ln w="15240">
            <a:solidFill>
              <a:srgbClr val="11786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368535" y="2046061"/>
            <a:ext cx="1080478" cy="263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644" b="1" dirty="0">
                <a:solidFill>
                  <a:srgbClr val="0C69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schema.ts</a:t>
            </a:r>
            <a:endParaRPr lang="en-GB" sz="1644" dirty="0"/>
          </a:p>
        </p:txBody>
      </p:sp>
      <p:sp>
        <p:nvSpPr>
          <p:cNvPr id="10" name="Shape 8"/>
          <p:cNvSpPr/>
          <p:nvPr/>
        </p:nvSpPr>
        <p:spPr>
          <a:xfrm>
            <a:off x="4655713" y="2215180"/>
            <a:ext cx="497959" cy="0"/>
          </a:xfrm>
          <a:prstGeom prst="line">
            <a:avLst/>
          </a:prstGeom>
          <a:noFill/>
          <a:ln w="23489">
            <a:solidFill>
              <a:srgbClr val="11786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5219441" y="1764198"/>
            <a:ext cx="1277783" cy="892569"/>
          </a:xfrm>
          <a:prstGeom prst="roundRect">
            <a:avLst>
              <a:gd name="adj" fmla="val 8421"/>
            </a:avLst>
          </a:prstGeom>
          <a:solidFill>
            <a:srgbClr val="EFF6FC"/>
          </a:solidFill>
          <a:ln w="15240">
            <a:solidFill>
              <a:srgbClr val="0078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369768" y="2046061"/>
            <a:ext cx="977128" cy="263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644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rayfin up</a:t>
            </a:r>
            <a:endParaRPr lang="en-GB" sz="1644" dirty="0"/>
          </a:p>
        </p:txBody>
      </p:sp>
      <p:sp>
        <p:nvSpPr>
          <p:cNvPr id="13" name="Shape 11"/>
          <p:cNvSpPr/>
          <p:nvPr/>
        </p:nvSpPr>
        <p:spPr>
          <a:xfrm>
            <a:off x="6732110" y="1595079"/>
            <a:ext cx="1099269" cy="1230805"/>
          </a:xfrm>
          <a:prstGeom prst="roundRect">
            <a:avLst>
              <a:gd name="adj" fmla="val 6838"/>
            </a:avLst>
          </a:prstGeom>
          <a:solidFill>
            <a:srgbClr val="EFF6FC"/>
          </a:solidFill>
          <a:ln w="15240">
            <a:solidFill>
              <a:srgbClr val="0078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826065" y="1698429"/>
            <a:ext cx="911360" cy="1033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161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API</a:t>
            </a:r>
            <a:endParaRPr lang="en-GB" sz="1161" dirty="0"/>
          </a:p>
          <a:p>
            <a:pPr marL="0" indent="0" algn="ctr">
              <a:buNone/>
            </a:pPr>
            <a:r>
              <a:rPr lang="en-GB" altLang="en-US" sz="1161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Builder</a:t>
            </a:r>
            <a:endParaRPr lang="en-GB" sz="1161" dirty="0"/>
          </a:p>
          <a:p>
            <a:pPr marL="0" indent="0" algn="ctr">
              <a:buNone/>
            </a:pPr>
            <a:r>
              <a:rPr lang="en-GB" altLang="en-US" sz="1161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GB" sz="1161" dirty="0"/>
          </a:p>
          <a:p>
            <a:pPr marL="0" indent="0" algn="ctr">
              <a:buNone/>
            </a:pPr>
            <a:r>
              <a:rPr lang="en-GB" altLang="en-US" sz="1161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 SQL</a:t>
            </a:r>
            <a:endParaRPr lang="en-GB" sz="1161" dirty="0"/>
          </a:p>
        </p:txBody>
      </p:sp>
      <p:sp>
        <p:nvSpPr>
          <p:cNvPr id="15" name="Shape 13"/>
          <p:cNvSpPr/>
          <p:nvPr/>
        </p:nvSpPr>
        <p:spPr>
          <a:xfrm>
            <a:off x="6562992" y="2215180"/>
            <a:ext cx="150327" cy="0"/>
          </a:xfrm>
          <a:prstGeom prst="line">
            <a:avLst/>
          </a:prstGeom>
          <a:noFill/>
          <a:ln w="23489">
            <a:solidFill>
              <a:srgbClr val="0078D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227603" y="3530544"/>
            <a:ext cx="1747556" cy="1033501"/>
          </a:xfrm>
          <a:prstGeom prst="roundRect">
            <a:avLst>
              <a:gd name="adj" fmla="val 7273"/>
            </a:avLst>
          </a:prstGeom>
          <a:solidFill>
            <a:srgbClr val="E3F7EF"/>
          </a:solidFill>
          <a:ln w="15240">
            <a:solidFill>
              <a:srgbClr val="11786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387326" y="3699662"/>
            <a:ext cx="1428110" cy="704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315" b="1" dirty="0">
                <a:solidFill>
                  <a:srgbClr val="0C69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RayfinClient</a:t>
            </a:r>
            <a:endParaRPr lang="en-GB" sz="1315" dirty="0"/>
          </a:p>
          <a:p>
            <a:pPr marL="0" indent="0" algn="ctr">
              <a:buNone/>
            </a:pPr>
            <a:r>
              <a:rPr lang="en-GB" altLang="en-US" sz="1315" b="1" dirty="0">
                <a:solidFill>
                  <a:srgbClr val="0C69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typed GraphQL proxies</a:t>
            </a:r>
            <a:endParaRPr lang="en-GB" sz="1315" dirty="0"/>
          </a:p>
        </p:txBody>
      </p:sp>
      <p:sp>
        <p:nvSpPr>
          <p:cNvPr id="18" name="Shape 16"/>
          <p:cNvSpPr/>
          <p:nvPr/>
        </p:nvSpPr>
        <p:spPr>
          <a:xfrm>
            <a:off x="3913472" y="2722535"/>
            <a:ext cx="0" cy="742241"/>
          </a:xfrm>
          <a:prstGeom prst="line">
            <a:avLst/>
          </a:prstGeom>
          <a:noFill/>
          <a:ln w="23489">
            <a:solidFill>
              <a:srgbClr val="11786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031532" y="3981526"/>
            <a:ext cx="1277783" cy="0"/>
          </a:xfrm>
          <a:prstGeom prst="line">
            <a:avLst/>
          </a:prstGeom>
          <a:noFill/>
          <a:ln w="23489">
            <a:solidFill>
              <a:srgbClr val="11786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309314" y="2778907"/>
            <a:ext cx="0" cy="1202619"/>
          </a:xfrm>
          <a:prstGeom prst="line">
            <a:avLst/>
          </a:prstGeom>
          <a:noFill/>
          <a:ln w="23489">
            <a:solidFill>
              <a:srgbClr val="11786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309314" y="2778907"/>
            <a:ext cx="404005" cy="0"/>
          </a:xfrm>
          <a:prstGeom prst="line">
            <a:avLst/>
          </a:prstGeom>
          <a:noFill/>
          <a:ln w="23489">
            <a:solidFill>
              <a:srgbClr val="11786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275320" y="1700784"/>
            <a:ext cx="3246120" cy="3310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43840" indent="-243840">
              <a:buSzPct val="100000"/>
              <a:buChar char="•"/>
            </a:pPr>
            <a:r>
              <a:rPr lang="en-GB" altLang="en-US" sz="16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decorators define SQL types, limits and optional values.</a:t>
            </a:r>
            <a:endParaRPr lang="en-GB" sz="1600" dirty="0"/>
          </a:p>
          <a:p>
            <a:pPr marL="243840" indent="-243840">
              <a:buSzPct val="100000"/>
              <a:buChar char="•"/>
            </a:pPr>
            <a:r>
              <a:rPr lang="en-GB" altLang="en-US" sz="16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Authorization decorators generate read and write policies.</a:t>
            </a:r>
            <a:endParaRPr lang="en-GB" sz="1600" dirty="0"/>
          </a:p>
          <a:p>
            <a:pPr marL="243840" indent="-243840">
              <a:buSzPct val="100000"/>
              <a:buChar char="•"/>
            </a:pPr>
            <a:r>
              <a:rPr lang="en-GB" altLang="en-US" sz="16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schema.ts registers the 26 entities used by RayfinClient.</a:t>
            </a:r>
            <a:endParaRPr lang="en-GB" sz="1600" dirty="0"/>
          </a:p>
        </p:txBody>
      </p:sp>
      <p:sp>
        <p:nvSpPr>
          <p:cNvPr id="23" name="Text 21"/>
          <p:cNvSpPr/>
          <p:nvPr/>
        </p:nvSpPr>
        <p:spPr>
          <a:xfrm>
            <a:off x="530352" y="6428232"/>
            <a:ext cx="1014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105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rayfin/data/schema.ts · rayfin/rayfin.yml</a:t>
            </a:r>
            <a:endParaRPr lang="en-GB" sz="1050" dirty="0"/>
          </a:p>
        </p:txBody>
      </p:sp>
      <p:sp>
        <p:nvSpPr>
          <p:cNvPr id="24" name="Text 22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GB" altLang="en-US" sz="105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GB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3774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1150" b="1" dirty="0">
                <a:solidFill>
                  <a:srgbClr val="1178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RAYFIN FUNCTION GAPS</a:t>
            </a:r>
            <a:endParaRPr lang="en-GB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548640"/>
            <a:ext cx="10972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275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platform gaps keep the Python compatibility UDF.</a:t>
            </a:r>
            <a:endParaRPr lang="en-GB" sz="2750" dirty="0"/>
          </a:p>
        </p:txBody>
      </p:sp>
      <p:sp>
        <p:nvSpPr>
          <p:cNvPr id="4" name="Text 2"/>
          <p:cNvSpPr/>
          <p:nvPr/>
        </p:nvSpPr>
        <p:spPr>
          <a:xfrm>
            <a:off x="731520" y="1627632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20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Power BI application audience or first-party scanner connector.</a:t>
            </a:r>
            <a:endParaRPr lang="en-GB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20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Kusto application audience for live schema metadata.</a:t>
            </a:r>
            <a:endParaRPr lang="en-GB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218688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20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PBIR-Legacy report-page coverage.</a:t>
            </a:r>
            <a:endParaRPr lang="en-GB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014216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20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Once all three pass parity, delete sync_compatibility and the Python UDF.</a:t>
            </a:r>
            <a:endParaRPr lang="en-GB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5029200"/>
            <a:ext cx="10561320" cy="658368"/>
          </a:xfrm>
          <a:prstGeom prst="roundRect">
            <a:avLst>
              <a:gd name="adj" fmla="val 5556"/>
            </a:avLst>
          </a:prstGeom>
          <a:solidFill>
            <a:srgbClr val="E3F7EF"/>
          </a:solidFill>
          <a:ln w="12700">
            <a:solidFill>
              <a:srgbClr val="11786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50976" y="5230368"/>
            <a:ext cx="101132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GB" altLang="en-US" sz="1340" b="1" dirty="0">
                <a:solidFill>
                  <a:srgbClr val="0C6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Scheduling is separate: it needs an unattended trigger plus durable claim and publication fencing.</a:t>
            </a:r>
            <a:endParaRPr lang="en-GB" sz="1340" dirty="0"/>
          </a:p>
        </p:txBody>
      </p:sp>
      <p:sp>
        <p:nvSpPr>
          <p:cNvPr id="10" name="Text 8"/>
          <p:cNvSpPr/>
          <p:nvPr/>
        </p:nvSpPr>
        <p:spPr>
          <a:xfrm>
            <a:off x="530352" y="6428232"/>
            <a:ext cx="1014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105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docs/rayfin-platform-gaps.md</a:t>
            </a:r>
            <a:endParaRPr lang="en-GB" sz="1050" dirty="0"/>
          </a:p>
        </p:txBody>
      </p:sp>
      <p:sp>
        <p:nvSpPr>
          <p:cNvPr id="11" name="Text 9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GB" altLang="en-US" sz="105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GB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nd clair Fabric Atla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310896"/>
            <a:ext cx="11567160" cy="6035040"/>
          </a:xfrm>
          <a:prstGeom prst="rect">
            <a:avLst/>
          </a:prstGeom>
        </p:spPr>
      </p:pic>
      <p:pic>
        <p:nvPicPr>
          <p:cNvPr id="3" name="Image 1" descr="Logo Fabric Atl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749808"/>
            <a:ext cx="731520" cy="731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82496" y="8595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1250" b="1" dirty="0">
                <a:solidFill>
                  <a:srgbClr val="1178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 ATLAS</a:t>
            </a:r>
            <a:endParaRPr lang="en-GB" sz="1250" dirty="0"/>
          </a:p>
        </p:txBody>
      </p:sp>
      <p:sp>
        <p:nvSpPr>
          <p:cNvPr id="5" name="Text 1"/>
          <p:cNvSpPr/>
          <p:nvPr/>
        </p:nvSpPr>
        <p:spPr>
          <a:xfrm>
            <a:off x="694944" y="1874520"/>
            <a:ext cx="10469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36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trusted catalog stays available</a:t>
            </a:r>
            <a:endParaRPr lang="en-GB" sz="3600" dirty="0"/>
          </a:p>
          <a:p>
            <a:pPr marL="0" indent="0" algn="l">
              <a:buNone/>
            </a:pPr>
            <a:r>
              <a:rPr lang="en-GB" altLang="en-US" sz="3600" b="1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while the next snapshot is built.</a:t>
            </a:r>
            <a:endParaRPr lang="en-GB" sz="3600" dirty="0"/>
          </a:p>
        </p:txBody>
      </p:sp>
      <p:sp>
        <p:nvSpPr>
          <p:cNvPr id="6" name="Text 2"/>
          <p:cNvSpPr/>
          <p:nvPr/>
        </p:nvSpPr>
        <p:spPr>
          <a:xfrm>
            <a:off x="722376" y="35021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2000" dirty="0">
                <a:solidFill>
                  <a:srgbClr val="0C69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 with Rayfin Functions. Keep exact compatibility gaps. Publish after read-back.</a:t>
            </a:r>
            <a:endParaRPr lang="en-GB" sz="2000" dirty="0"/>
          </a:p>
        </p:txBody>
      </p:sp>
      <p:sp>
        <p:nvSpPr>
          <p:cNvPr id="7" name="Text 3"/>
          <p:cNvSpPr/>
          <p:nvPr/>
        </p:nvSpPr>
        <p:spPr>
          <a:xfrm>
            <a:off x="722376" y="460857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2300" b="1" dirty="0">
                <a:solidFill>
                  <a:srgbClr val="0C69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and feedback</a:t>
            </a:r>
            <a:endParaRPr lang="en-GB" sz="2300" dirty="0"/>
          </a:p>
        </p:txBody>
      </p:sp>
      <p:sp>
        <p:nvSpPr>
          <p:cNvPr id="8" name="Text 4"/>
          <p:cNvSpPr/>
          <p:nvPr/>
        </p:nvSpPr>
        <p:spPr>
          <a:xfrm>
            <a:off x="722376" y="513892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170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github.com/fredgis/FabricAtlas</a:t>
            </a:r>
            <a:endParaRPr lang="en-GB" sz="1700" dirty="0"/>
          </a:p>
        </p:txBody>
      </p:sp>
      <p:sp>
        <p:nvSpPr>
          <p:cNvPr id="9" name="Text 5"/>
          <p:cNvSpPr/>
          <p:nvPr/>
        </p:nvSpPr>
        <p:spPr>
          <a:xfrm>
            <a:off x="722376" y="576986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1400" dirty="0">
                <a:solidFill>
                  <a:srgbClr val="2424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Rayfin Functions · Fabric SQL · Multi-workspace · Metadata only</a:t>
            </a:r>
            <a:endParaRPr lang="en-GB" sz="1400" dirty="0"/>
          </a:p>
        </p:txBody>
      </p:sp>
      <p:sp>
        <p:nvSpPr>
          <p:cNvPr id="10" name="Text 6"/>
          <p:cNvSpPr/>
          <p:nvPr/>
        </p:nvSpPr>
        <p:spPr>
          <a:xfrm>
            <a:off x="530352" y="6428232"/>
            <a:ext cx="1014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altLang="en-US" sz="105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github.com/fredgis/FabricAtlas</a:t>
            </a:r>
            <a:endParaRPr lang="en-GB" sz="1050" dirty="0"/>
          </a:p>
        </p:txBody>
      </p:sp>
      <p:sp>
        <p:nvSpPr>
          <p:cNvPr id="11" name="Text 7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GB" altLang="en-US" sz="1050" dirty="0">
                <a:solidFill>
                  <a:srgbClr val="6161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GB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881</Words>
  <Application>Microsoft Office PowerPoint</Application>
  <PresentationFormat>Widescreen</PresentationFormat>
  <Paragraphs>146</Paragraphs>
  <Slides>13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Fabric Atlas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Fabric Atlas: development and architecture</dc:title>
  <dc:subject>C4 architecture, UDF synchronization and Rayfin snapshots</dc:subject>
  <dc:creator>Fabric Atlas</dc:creator>
  <cp:lastModifiedBy>Frederic Gisbert</cp:lastModifiedBy>
  <cp:revision>3</cp:revision>
  <dcterms:created xsi:type="dcterms:W3CDTF">2026-09-19T12:05:53Z</dcterms:created>
  <dcterms:modified xsi:type="dcterms:W3CDTF">2026-10-17T16:00:08Z</dcterms:modified>
</cp:coreProperties>
</file>